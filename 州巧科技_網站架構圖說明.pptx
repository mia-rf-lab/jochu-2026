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650" r:id="rId2"/>
  </p:sldMasterIdLst>
  <p:notesMasterIdLst>
    <p:notesMasterId r:id="rId6"/>
  </p:notesMasterIdLst>
  <p:sldIdLst>
    <p:sldId id="4099" r:id="rId3"/>
    <p:sldId id="256" r:id="rId4"/>
    <p:sldId id="259" r:id="rId5"/>
  </p:sldIdLst>
  <p:sldSz cx="12192000" cy="6858000"/>
  <p:notesSz cx="6797675" cy="9926638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11"/>
    <p:restoredTop sz="95214" autoAdjust="0"/>
  </p:normalViewPr>
  <p:slideViewPr>
    <p:cSldViewPr snapToGrid="0" snapToObjects="1">
      <p:cViewPr varScale="1">
        <p:scale>
          <a:sx n="81" d="100"/>
          <a:sy n="81" d="100"/>
        </p:scale>
        <p:origin x="725" y="6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1.xml"/><Relationship Id="rId7" Type="http://schemas.openxmlformats.org/officeDocument/2006/relationships/presProps" Target="presProps.xml"/><Relationship Id="rId2" Type="http://schemas.openxmlformats.org/officeDocument/2006/relationships/slideMaster" Target="slideMasters/slideMaster2.xml"/><Relationship Id="rId1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5" Type="http://schemas.openxmlformats.org/officeDocument/2006/relationships/slide" Target="slides/slide3.xml"/><Relationship Id="rId10" Type="http://schemas.openxmlformats.org/officeDocument/2006/relationships/tableStyles" Target="tableStyles.xml"/><Relationship Id="rId4" Type="http://schemas.openxmlformats.org/officeDocument/2006/relationships/slide" Target="slides/slide2.xml"/><Relationship Id="rId9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05061140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 lIns="80275" tIns="40138" rIns="80275" bIns="40138"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 lIns="80275" tIns="40138" rIns="80275" bIns="40138"/>
          <a:lstStyle/>
          <a:p>
            <a:pPr marL="0" marR="0" lvl="0" indent="0" algn="l" defTabSz="802752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F7021451-1387-4CA6-816F-3879F97B5CBC}" type="slidenum"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pPr marL="0" marR="0" lvl="0" indent="0" algn="l" defTabSz="802752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3</a:t>
            </a:fld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57925894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2_標題投影片">
    <p:bg>
      <p:bgPr shadeToTitle="1"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0" y="4581128"/>
            <a:ext cx="12192000" cy="1728192"/>
          </a:xfrm>
          <a:solidFill>
            <a:schemeClr val="bg1">
              <a:alpha val="25000"/>
            </a:schemeClr>
          </a:solidFill>
        </p:spPr>
        <p:txBody>
          <a:bodyPr anchor="t"/>
          <a:lstStyle>
            <a:lvl1pPr algn="ctr">
              <a:defRPr sz="6400" b="0" cap="none" spc="0">
                <a:ln w="18415" cmpd="sng">
                  <a:solidFill>
                    <a:srgbClr val="FFFFFF"/>
                  </a:solidFill>
                  <a:prstDash val="solid"/>
                </a:ln>
                <a:solidFill>
                  <a:srgbClr val="FFFFFF"/>
                </a:solidFill>
                <a:effectLst>
                  <a:outerShdw blurRad="63500" dir="3600000" algn="tl" rotWithShape="0">
                    <a:srgbClr val="000000">
                      <a:alpha val="70000"/>
                    </a:srgbClr>
                  </a:outerShdw>
                </a:effectLst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0" y="5611688"/>
            <a:ext cx="12192000" cy="481608"/>
          </a:xfrm>
        </p:spPr>
        <p:txBody>
          <a:bodyPr>
            <a:normAutofit/>
          </a:bodyPr>
          <a:lstStyle>
            <a:lvl1pPr marL="0" indent="0" algn="ctr">
              <a:buNone/>
              <a:defRPr sz="3200">
                <a:solidFill>
                  <a:schemeClr val="tx1"/>
                </a:solidFill>
              </a:defRPr>
            </a:lvl1pPr>
            <a:lvl2pPr marL="609585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121917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82875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243833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3047924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3657509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4267093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4876678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TW" altLang="en-US" dirty="0"/>
              <a:t>按一下以編輯母片副標題樣式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>
          <a:xfrm>
            <a:off x="8915829" y="6448252"/>
            <a:ext cx="28448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EEAC3FE0-C236-4B92-92ED-A2407CFF3FE9}" type="slidenum">
              <a:rPr lang="zh-TW" altLang="en-US" smtClean="0"/>
              <a:pPr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088105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C3FE0-C236-4B92-92ED-A2407CFF3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087934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963084" y="4406901"/>
            <a:ext cx="10363200" cy="1362075"/>
          </a:xfrm>
        </p:spPr>
        <p:txBody>
          <a:bodyPr anchor="t"/>
          <a:lstStyle>
            <a:lvl1pPr algn="l">
              <a:defRPr sz="5333" b="1" cap="all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667">
                <a:solidFill>
                  <a:schemeClr val="tx1">
                    <a:tint val="75000"/>
                  </a:schemeClr>
                </a:solidFill>
              </a:defRPr>
            </a:lvl1pPr>
            <a:lvl2pPr marL="609585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2pPr>
            <a:lvl3pPr marL="1219170" indent="0">
              <a:buNone/>
              <a:defRPr sz="2133">
                <a:solidFill>
                  <a:schemeClr val="tx1">
                    <a:tint val="75000"/>
                  </a:schemeClr>
                </a:solidFill>
              </a:defRPr>
            </a:lvl3pPr>
            <a:lvl4pPr marL="182875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4pPr>
            <a:lvl5pPr marL="243833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5pPr>
            <a:lvl6pPr marL="3047924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6pPr>
            <a:lvl7pPr marL="3657509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7pPr>
            <a:lvl8pPr marL="4267093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8pPr>
            <a:lvl9pPr marL="4876678" indent="0">
              <a:buNone/>
              <a:defRPr sz="1867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C3FE0-C236-4B92-92ED-A2407CFF3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1106107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239349" y="1052737"/>
            <a:ext cx="5760000" cy="507342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133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97600" y="1052737"/>
            <a:ext cx="5760000" cy="5073427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133"/>
            </a:lvl4pPr>
            <a:lvl5pPr>
              <a:defRPr sz="1867"/>
            </a:lvl5pPr>
            <a:lvl6pPr>
              <a:defRPr sz="2400"/>
            </a:lvl6pPr>
            <a:lvl7pPr>
              <a:defRPr sz="2400"/>
            </a:lvl7pPr>
            <a:lvl8pPr>
              <a:defRPr sz="2400"/>
            </a:lvl8pPr>
            <a:lvl9pPr>
              <a:defRPr sz="2400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C3FE0-C236-4B92-92ED-A2407CFF3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351807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39349" y="998189"/>
            <a:ext cx="576000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239349" y="1637952"/>
            <a:ext cx="5760000" cy="4527352"/>
          </a:xfrm>
        </p:spPr>
        <p:txBody>
          <a:bodyPr/>
          <a:lstStyle>
            <a:lvl1pPr>
              <a:defRPr sz="28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5" y="998189"/>
            <a:ext cx="5760000" cy="639763"/>
          </a:xfrm>
        </p:spPr>
        <p:txBody>
          <a:bodyPr anchor="b"/>
          <a:lstStyle>
            <a:lvl1pPr marL="0" indent="0">
              <a:buNone/>
              <a:defRPr sz="3200" b="1"/>
            </a:lvl1pPr>
            <a:lvl2pPr marL="609585" indent="0">
              <a:buNone/>
              <a:defRPr sz="2667" b="1"/>
            </a:lvl2pPr>
            <a:lvl3pPr marL="1219170" indent="0">
              <a:buNone/>
              <a:defRPr sz="2400" b="1"/>
            </a:lvl3pPr>
            <a:lvl4pPr marL="1828754" indent="0">
              <a:buNone/>
              <a:defRPr sz="2133" b="1"/>
            </a:lvl4pPr>
            <a:lvl5pPr marL="2438339" indent="0">
              <a:buNone/>
              <a:defRPr sz="2133" b="1"/>
            </a:lvl5pPr>
            <a:lvl6pPr marL="3047924" indent="0">
              <a:buNone/>
              <a:defRPr sz="2133" b="1"/>
            </a:lvl6pPr>
            <a:lvl7pPr marL="3657509" indent="0">
              <a:buNone/>
              <a:defRPr sz="2133" b="1"/>
            </a:lvl7pPr>
            <a:lvl8pPr marL="4267093" indent="0">
              <a:buNone/>
              <a:defRPr sz="2133" b="1"/>
            </a:lvl8pPr>
            <a:lvl9pPr marL="4876678" indent="0">
              <a:buNone/>
              <a:defRPr sz="2133" b="1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5" y="1637952"/>
            <a:ext cx="5760000" cy="4527352"/>
          </a:xfrm>
        </p:spPr>
        <p:txBody>
          <a:bodyPr/>
          <a:lstStyle>
            <a:lvl1pPr>
              <a:defRPr sz="2800"/>
            </a:lvl1pPr>
            <a:lvl2pPr>
              <a:defRPr sz="2667"/>
            </a:lvl2pPr>
            <a:lvl3pPr>
              <a:defRPr sz="2400"/>
            </a:lvl3pPr>
            <a:lvl4pPr>
              <a:defRPr sz="2133"/>
            </a:lvl4pPr>
            <a:lvl5pPr>
              <a:defRPr sz="2133"/>
            </a:lvl5pPr>
            <a:lvl6pPr>
              <a:defRPr sz="2133"/>
            </a:lvl6pPr>
            <a:lvl7pPr>
              <a:defRPr sz="2133"/>
            </a:lvl7pPr>
            <a:lvl8pPr>
              <a:defRPr sz="2133"/>
            </a:lvl8pPr>
            <a:lvl9pPr>
              <a:defRPr sz="2133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10" name="投影片編號版面配置區 9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C3FE0-C236-4B92-92ED-A2407CFF3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80386600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C3FE0-C236-4B92-92ED-A2407CFF3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5569618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投影片編號版面配置區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C3FE0-C236-4B92-92ED-A2407CFF3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8279202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2" y="273049"/>
            <a:ext cx="4011084" cy="1162051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273052"/>
            <a:ext cx="6815667" cy="5853113"/>
          </a:xfrm>
        </p:spPr>
        <p:txBody>
          <a:bodyPr/>
          <a:lstStyle>
            <a:lvl1pPr>
              <a:defRPr sz="3733"/>
            </a:lvl1pPr>
            <a:lvl2pPr>
              <a:defRPr sz="3200"/>
            </a:lvl2pPr>
            <a:lvl3pPr>
              <a:defRPr sz="2800"/>
            </a:lvl3pPr>
            <a:lvl4pPr>
              <a:defRPr sz="2400"/>
            </a:lvl4pPr>
            <a:lvl5pPr>
              <a:defRPr sz="2133"/>
            </a:lvl5pPr>
            <a:lvl6pPr>
              <a:defRPr sz="2667"/>
            </a:lvl6pPr>
            <a:lvl7pPr>
              <a:defRPr sz="2667"/>
            </a:lvl7pPr>
            <a:lvl8pPr>
              <a:defRPr sz="2667"/>
            </a:lvl8pPr>
            <a:lvl9pPr>
              <a:defRPr sz="2667"/>
            </a:lvl9pPr>
          </a:lstStyle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2" y="1435102"/>
            <a:ext cx="4011084" cy="46910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C3FE0-C236-4B92-92ED-A2407CFF3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0375121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9"/>
          </a:xfrm>
        </p:spPr>
        <p:txBody>
          <a:bodyPr anchor="b"/>
          <a:lstStyle>
            <a:lvl1pPr algn="l">
              <a:defRPr sz="2667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4267"/>
            </a:lvl1pPr>
            <a:lvl2pPr marL="609585" indent="0">
              <a:buNone/>
              <a:defRPr sz="3733"/>
            </a:lvl2pPr>
            <a:lvl3pPr marL="1219170" indent="0">
              <a:buNone/>
              <a:defRPr sz="3200"/>
            </a:lvl3pPr>
            <a:lvl4pPr marL="1828754" indent="0">
              <a:buNone/>
              <a:defRPr sz="2667"/>
            </a:lvl4pPr>
            <a:lvl5pPr marL="2438339" indent="0">
              <a:buNone/>
              <a:defRPr sz="2667"/>
            </a:lvl5pPr>
            <a:lvl6pPr marL="3047924" indent="0">
              <a:buNone/>
              <a:defRPr sz="2667"/>
            </a:lvl6pPr>
            <a:lvl7pPr marL="3657509" indent="0">
              <a:buNone/>
              <a:defRPr sz="2667"/>
            </a:lvl7pPr>
            <a:lvl8pPr marL="4267093" indent="0">
              <a:buNone/>
              <a:defRPr sz="2667"/>
            </a:lvl8pPr>
            <a:lvl9pPr marL="4876678" indent="0">
              <a:buNone/>
              <a:defRPr sz="2667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3"/>
          </a:xfrm>
        </p:spPr>
        <p:txBody>
          <a:bodyPr/>
          <a:lstStyle>
            <a:lvl1pPr marL="0" indent="0">
              <a:buNone/>
              <a:defRPr sz="1867"/>
            </a:lvl1pPr>
            <a:lvl2pPr marL="609585" indent="0">
              <a:buNone/>
              <a:defRPr sz="1600"/>
            </a:lvl2pPr>
            <a:lvl3pPr marL="1219170" indent="0">
              <a:buNone/>
              <a:defRPr sz="1333"/>
            </a:lvl3pPr>
            <a:lvl4pPr marL="1828754" indent="0">
              <a:buNone/>
              <a:defRPr sz="1200"/>
            </a:lvl4pPr>
            <a:lvl5pPr marL="2438339" indent="0">
              <a:buNone/>
              <a:defRPr sz="1200"/>
            </a:lvl5pPr>
            <a:lvl6pPr marL="3047924" indent="0">
              <a:buNone/>
              <a:defRPr sz="1200"/>
            </a:lvl6pPr>
            <a:lvl7pPr marL="3657509" indent="0">
              <a:buNone/>
              <a:defRPr sz="1200"/>
            </a:lvl7pPr>
            <a:lvl8pPr marL="4267093" indent="0">
              <a:buNone/>
              <a:defRPr sz="1200"/>
            </a:lvl8pPr>
            <a:lvl9pPr marL="4876678" indent="0">
              <a:buNone/>
              <a:defRPr sz="12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8" name="投影片編號版面配置區 7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C3FE0-C236-4B92-92ED-A2407CFF3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028631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C3FE0-C236-4B92-92ED-A2407CFF3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1555748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839200" y="274639"/>
            <a:ext cx="2743200" cy="5851525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609600" y="274639"/>
            <a:ext cx="8026400" cy="5851525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C3FE0-C236-4B92-92ED-A2407CFF3FE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6175742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9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4.xml"/><Relationship Id="rId7" Type="http://schemas.openxmlformats.org/officeDocument/2006/relationships/slideLayout" Target="../slideLayouts/slideLayout8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3.xml"/><Relationship Id="rId1" Type="http://schemas.openxmlformats.org/officeDocument/2006/relationships/slideLayout" Target="../slideLayouts/slideLayout2.xml"/><Relationship Id="rId6" Type="http://schemas.openxmlformats.org/officeDocument/2006/relationships/slideLayout" Target="../slideLayouts/slideLayout7.xml"/><Relationship Id="rId11" Type="http://schemas.openxmlformats.org/officeDocument/2006/relationships/slideLayout" Target="../slideLayouts/slideLayout12.xml"/><Relationship Id="rId5" Type="http://schemas.openxmlformats.org/officeDocument/2006/relationships/slideLayout" Target="../slideLayouts/slideLayout6.xml"/><Relationship Id="rId10" Type="http://schemas.openxmlformats.org/officeDocument/2006/relationships/slideLayout" Target="../slideLayouts/slideLayout11.xml"/><Relationship Id="rId4" Type="http://schemas.openxmlformats.org/officeDocument/2006/relationships/slideLayout" Target="../slideLayouts/slideLayout5.xml"/><Relationship Id="rId9" Type="http://schemas.openxmlformats.org/officeDocument/2006/relationships/slideLayout" Target="../slideLayouts/slideLayout10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9168341" y="6492876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600" b="1">
                <a:solidFill>
                  <a:schemeClr val="tx2">
                    <a:lumMod val="50000"/>
                  </a:schemeClr>
                </a:solidFill>
              </a:defRPr>
            </a:lvl1pPr>
          </a:lstStyle>
          <a:p>
            <a:fld id="{EEAC3FE0-C236-4B92-92ED-A2407CFF3FE9}" type="slidenum">
              <a:rPr lang="zh-TW" altLang="en-US" smtClean="0"/>
              <a:pPr/>
              <a:t>‹#›</a:t>
            </a:fld>
            <a:endParaRPr lang="zh-TW" altLang="en-US" dirty="0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238092" y="908721"/>
            <a:ext cx="11714561" cy="521744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dirty="0"/>
              <a:t>按一下以編輯母片文字樣式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238092" y="332656"/>
            <a:ext cx="11714561" cy="490067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zh-TW" altLang="en-US" dirty="0"/>
              <a:t>按一下以編輯母片標題樣式</a:t>
            </a:r>
          </a:p>
        </p:txBody>
      </p:sp>
    </p:spTree>
    <p:extLst>
      <p:ext uri="{BB962C8B-B14F-4D97-AF65-F5344CB8AC3E}">
        <p14:creationId xmlns:p14="http://schemas.microsoft.com/office/powerpoint/2010/main" val="342597380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1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  <p:sldLayoutId id="2147483659" r:id="rId9"/>
    <p:sldLayoutId id="2147483660" r:id="rId10"/>
    <p:sldLayoutId id="2147483661" r:id="rId11"/>
  </p:sldLayoutIdLst>
  <p:hf hdr="0" ftr="0" dt="0"/>
  <p:txStyles>
    <p:titleStyle>
      <a:lvl1pPr algn="l" defTabSz="1219170" rtl="0" eaLnBrk="1" latinLnBrk="0" hangingPunct="1">
        <a:spcBef>
          <a:spcPct val="0"/>
        </a:spcBef>
        <a:buNone/>
        <a:defRPr sz="3733" b="1" kern="1200" cap="none" spc="0">
          <a:ln w="12700">
            <a:solidFill>
              <a:schemeClr val="tx2">
                <a:satMod val="155000"/>
              </a:schemeClr>
            </a:solidFill>
            <a:prstDash val="solid"/>
          </a:ln>
          <a:solidFill>
            <a:schemeClr val="bg2">
              <a:tint val="85000"/>
              <a:satMod val="155000"/>
            </a:schemeClr>
          </a:solidFill>
          <a:effectLst/>
          <a:latin typeface="+mj-lt"/>
          <a:ea typeface="+mj-ea"/>
          <a:cs typeface="+mj-cs"/>
        </a:defRPr>
      </a:lvl1pPr>
    </p:titleStyle>
    <p:bodyStyle>
      <a:lvl1pPr marL="457189" indent="-457189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1pPr>
      <a:lvl2pPr marL="990575" indent="-380990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2pPr>
      <a:lvl3pPr marL="1523962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3pPr>
      <a:lvl4pPr marL="2133547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–"/>
        <a:defRPr sz="2133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4pPr>
      <a:lvl5pPr marL="274313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»"/>
        <a:defRPr sz="1867" kern="1200">
          <a:solidFill>
            <a:schemeClr val="bg2">
              <a:lumMod val="50000"/>
            </a:schemeClr>
          </a:solidFill>
          <a:latin typeface="+mn-lt"/>
          <a:ea typeface="+mn-ea"/>
          <a:cs typeface="+mn-cs"/>
        </a:defRPr>
      </a:lvl5pPr>
      <a:lvl6pPr marL="335271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6pPr>
      <a:lvl7pPr marL="3962301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7pPr>
      <a:lvl8pPr marL="4571886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8pPr>
      <a:lvl9pPr marL="5181470" indent="-304792" algn="l" defTabSz="1219170" rtl="0" eaLnBrk="1" latinLnBrk="0" hangingPunct="1">
        <a:spcBef>
          <a:spcPct val="20000"/>
        </a:spcBef>
        <a:buFont typeface="Arial" panose="020B0604020202020204" pitchFamily="34" charset="0"/>
        <a:buChar char="•"/>
        <a:defRPr sz="266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&#36039;&#26009;/&#38364;&#26044;&#24030;&#24039;&#21450;&#20154;&#21147;&#36039;&#28304;&#38913;&#38754;&#24819;&#27861;.pptx" TargetMode="External"/><Relationship Id="rId7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hyperlink" Target="&#36039;&#26009;/&#27704;&#32396;&#30332;&#23637;&#38913;&#38754;&#24819;&#27861;.pptx" TargetMode="External"/><Relationship Id="rId5" Type="http://schemas.openxmlformats.org/officeDocument/2006/relationships/hyperlink" Target="&#36039;&#26009;/&#25237;&#36039;&#20154;&#23560;&#21312;&#38913;&#38754;&#24819;&#27861;.xlsx" TargetMode="External"/><Relationship Id="rId4" Type="http://schemas.openxmlformats.org/officeDocument/2006/relationships/hyperlink" Target="&#36039;&#26009;/&#35299;&#27770;&#26041;&#26696;&#38913;&#38754;&#24819;&#27861;.xlsx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FAF31526-A6F2-4FAC-A52D-BA6F5D1E17A2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EAC3FE0-C236-4B92-92ED-A2407CFF3FE9}" type="slidenum">
              <a:rPr lang="zh-TW" altLang="en-US" smtClean="0"/>
              <a:t>1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23DF0767-2224-432B-B949-6F2071B9B36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394" y="319770"/>
            <a:ext cx="11571211" cy="621845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9225510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9144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000" b="1" dirty="0">
                <a:solidFill>
                  <a:srgbClr val="FFFFFF"/>
                </a:solidFill>
              </a:rPr>
              <a:t>州巧科技 jochu.com｜網站架構圖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5166360" y="841248"/>
            <a:ext cx="1828800" cy="47548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" name="Text 4"/>
          <p:cNvSpPr/>
          <p:nvPr/>
        </p:nvSpPr>
        <p:spPr>
          <a:xfrm>
            <a:off x="5166360" y="841248"/>
            <a:ext cx="18288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州巧科技 jochu.com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6080760" y="1316736"/>
            <a:ext cx="0" cy="914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1087100" y="1408176"/>
            <a:ext cx="5006340" cy="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1074420" y="1408176"/>
            <a:ext cx="0" cy="16459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137160" y="1572768"/>
            <a:ext cx="1874520" cy="438912"/>
          </a:xfrm>
          <a:prstGeom prst="rect">
            <a:avLst/>
          </a:prstGeom>
          <a:solidFill>
            <a:srgbClr val="4A4A48"/>
          </a:solidFill>
          <a:ln w="12700">
            <a:solidFill>
              <a:srgbClr val="4A4A4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137160" y="157276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關於州巧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1074420" y="2011680"/>
            <a:ext cx="0" cy="219456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37160" y="243687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137160" y="2231136"/>
            <a:ext cx="1874520" cy="411480"/>
          </a:xfrm>
          <a:prstGeom prst="rect">
            <a:avLst/>
          </a:prstGeom>
          <a:solidFill>
            <a:srgbClr val="F1EFE8"/>
          </a:solidFill>
          <a:ln w="9525">
            <a:solidFill>
              <a:srgbClr val="4A4A4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182880" y="22311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</a:rPr>
              <a:t>公司簡介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1074420" y="2642616"/>
            <a:ext cx="0" cy="91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137160" y="293979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137160" y="2734056"/>
            <a:ext cx="1874520" cy="411480"/>
          </a:xfrm>
          <a:prstGeom prst="rect">
            <a:avLst/>
          </a:prstGeom>
          <a:solidFill>
            <a:srgbClr val="F1EFE8"/>
          </a:solidFill>
          <a:ln w="9525">
            <a:solidFill>
              <a:srgbClr val="4A4A4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9" name="Text 17"/>
          <p:cNvSpPr/>
          <p:nvPr/>
        </p:nvSpPr>
        <p:spPr>
          <a:xfrm>
            <a:off x="182880" y="27340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</a:rPr>
              <a:t>組織架構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1074420" y="3145536"/>
            <a:ext cx="0" cy="91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137160" y="344271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137160" y="3236976"/>
            <a:ext cx="1874520" cy="411480"/>
          </a:xfrm>
          <a:prstGeom prst="rect">
            <a:avLst/>
          </a:prstGeom>
          <a:solidFill>
            <a:srgbClr val="F1EFE8"/>
          </a:solidFill>
          <a:ln w="9525">
            <a:solidFill>
              <a:srgbClr val="4A4A4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182880" y="323697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</a:rPr>
              <a:t>州巧里程碑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1074420" y="3648456"/>
            <a:ext cx="0" cy="91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37160" y="394563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37160" y="3739896"/>
            <a:ext cx="1874520" cy="411480"/>
          </a:xfrm>
          <a:prstGeom prst="rect">
            <a:avLst/>
          </a:prstGeom>
          <a:solidFill>
            <a:srgbClr val="F1EFE8"/>
          </a:solidFill>
          <a:ln w="9525">
            <a:solidFill>
              <a:srgbClr val="4A4A4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27" name="Text 25"/>
          <p:cNvSpPr/>
          <p:nvPr/>
        </p:nvSpPr>
        <p:spPr>
          <a:xfrm>
            <a:off x="182880" y="373989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</a:rPr>
              <a:t>營運據點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1074420" y="4151376"/>
            <a:ext cx="0" cy="91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137160" y="444855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37160" y="4242816"/>
            <a:ext cx="1874520" cy="411480"/>
          </a:xfrm>
          <a:prstGeom prst="rect">
            <a:avLst/>
          </a:prstGeom>
          <a:solidFill>
            <a:srgbClr val="F1EFE8"/>
          </a:solidFill>
          <a:ln w="9525">
            <a:solidFill>
              <a:srgbClr val="4A4A4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1" name="Text 29"/>
          <p:cNvSpPr/>
          <p:nvPr/>
        </p:nvSpPr>
        <p:spPr>
          <a:xfrm>
            <a:off x="182880" y="424281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</a:rPr>
              <a:t>永續發展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1074420" y="4654296"/>
            <a:ext cx="0" cy="91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137160" y="495147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137160" y="4745736"/>
            <a:ext cx="1874520" cy="411480"/>
          </a:xfrm>
          <a:prstGeom prst="rect">
            <a:avLst/>
          </a:prstGeom>
          <a:solidFill>
            <a:srgbClr val="F1EFE8"/>
          </a:solidFill>
          <a:ln w="9525">
            <a:solidFill>
              <a:srgbClr val="4A4A4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5" name="Text 33"/>
          <p:cNvSpPr/>
          <p:nvPr/>
        </p:nvSpPr>
        <p:spPr>
          <a:xfrm>
            <a:off x="182880" y="47457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33333"/>
                </a:solidFill>
              </a:rPr>
              <a:t>聯絡我們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6080760" y="1316736"/>
            <a:ext cx="0" cy="914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3076956" y="1408176"/>
            <a:ext cx="0" cy="16459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2139696" y="1572768"/>
            <a:ext cx="1874520" cy="438912"/>
          </a:xfrm>
          <a:prstGeom prst="rect">
            <a:avLst/>
          </a:prstGeom>
          <a:solidFill>
            <a:srgbClr val="B34520"/>
          </a:solidFill>
          <a:ln w="12700">
            <a:solidFill>
              <a:srgbClr val="B345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39" name="Text 37"/>
          <p:cNvSpPr/>
          <p:nvPr/>
        </p:nvSpPr>
        <p:spPr>
          <a:xfrm>
            <a:off x="2139696" y="157276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產品服務</a:t>
            </a:r>
            <a:endParaRPr lang="en-US" sz="1100" dirty="0"/>
          </a:p>
        </p:txBody>
      </p:sp>
      <p:sp>
        <p:nvSpPr>
          <p:cNvPr id="40" name="Shape 38"/>
          <p:cNvSpPr/>
          <p:nvPr/>
        </p:nvSpPr>
        <p:spPr>
          <a:xfrm>
            <a:off x="3076956" y="2011680"/>
            <a:ext cx="0" cy="219456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2139696" y="243687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2139696" y="2231136"/>
            <a:ext cx="1874520" cy="411480"/>
          </a:xfrm>
          <a:prstGeom prst="rect">
            <a:avLst/>
          </a:prstGeom>
          <a:solidFill>
            <a:srgbClr val="FAEEE9"/>
          </a:solidFill>
          <a:ln w="9525">
            <a:solidFill>
              <a:srgbClr val="B345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3" name="Text 41"/>
          <p:cNvSpPr/>
          <p:nvPr/>
        </p:nvSpPr>
        <p:spPr>
          <a:xfrm>
            <a:off x="2185416" y="22311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1A00"/>
                </a:solidFill>
              </a:rPr>
              <a:t>光電金屬</a:t>
            </a:r>
            <a:endParaRPr lang="en-US" sz="950" dirty="0"/>
          </a:p>
          <a:p>
            <a:pPr marL="0" indent="0" algn="ctr">
              <a:buNone/>
            </a:pPr>
            <a:r>
              <a:rPr lang="en-US" sz="950" dirty="0">
                <a:solidFill>
                  <a:srgbClr val="6B1A00"/>
                </a:solidFill>
              </a:rPr>
              <a:t>零組件</a:t>
            </a:r>
            <a:endParaRPr lang="en-US" sz="950" dirty="0"/>
          </a:p>
        </p:txBody>
      </p:sp>
      <p:sp>
        <p:nvSpPr>
          <p:cNvPr id="44" name="Shape 42"/>
          <p:cNvSpPr/>
          <p:nvPr/>
        </p:nvSpPr>
        <p:spPr>
          <a:xfrm>
            <a:off x="3076956" y="2642616"/>
            <a:ext cx="0" cy="91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5" name="Shape 43"/>
          <p:cNvSpPr/>
          <p:nvPr/>
        </p:nvSpPr>
        <p:spPr>
          <a:xfrm>
            <a:off x="2139696" y="293979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6" name="Shape 44"/>
          <p:cNvSpPr/>
          <p:nvPr/>
        </p:nvSpPr>
        <p:spPr>
          <a:xfrm>
            <a:off x="2139696" y="2734056"/>
            <a:ext cx="1874520" cy="411480"/>
          </a:xfrm>
          <a:prstGeom prst="rect">
            <a:avLst/>
          </a:prstGeom>
          <a:solidFill>
            <a:srgbClr val="FAEEE9"/>
          </a:solidFill>
          <a:ln w="9525">
            <a:solidFill>
              <a:srgbClr val="B345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47" name="Text 45"/>
          <p:cNvSpPr/>
          <p:nvPr/>
        </p:nvSpPr>
        <p:spPr>
          <a:xfrm>
            <a:off x="2185416" y="27340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1A00"/>
                </a:solidFill>
              </a:rPr>
              <a:t>家居金屬製品</a:t>
            </a:r>
            <a:endParaRPr lang="en-US" sz="950" dirty="0"/>
          </a:p>
        </p:txBody>
      </p:sp>
      <p:sp>
        <p:nvSpPr>
          <p:cNvPr id="48" name="Shape 46"/>
          <p:cNvSpPr/>
          <p:nvPr/>
        </p:nvSpPr>
        <p:spPr>
          <a:xfrm>
            <a:off x="3076956" y="3145536"/>
            <a:ext cx="0" cy="91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49" name="Shape 47"/>
          <p:cNvSpPr/>
          <p:nvPr/>
        </p:nvSpPr>
        <p:spPr>
          <a:xfrm>
            <a:off x="2139696" y="344271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0" name="Shape 48"/>
          <p:cNvSpPr/>
          <p:nvPr/>
        </p:nvSpPr>
        <p:spPr>
          <a:xfrm>
            <a:off x="2139696" y="3236976"/>
            <a:ext cx="1874520" cy="411480"/>
          </a:xfrm>
          <a:prstGeom prst="rect">
            <a:avLst/>
          </a:prstGeom>
          <a:solidFill>
            <a:srgbClr val="FAEEE9"/>
          </a:solidFill>
          <a:ln w="9525">
            <a:solidFill>
              <a:srgbClr val="B345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1" name="Text 49"/>
          <p:cNvSpPr/>
          <p:nvPr/>
        </p:nvSpPr>
        <p:spPr>
          <a:xfrm>
            <a:off x="2185416" y="323697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1A00"/>
                </a:solidFill>
              </a:rPr>
              <a:t>醫療福祉製品</a:t>
            </a:r>
            <a:endParaRPr lang="en-US" sz="950" dirty="0"/>
          </a:p>
        </p:txBody>
      </p:sp>
      <p:sp>
        <p:nvSpPr>
          <p:cNvPr id="52" name="Shape 50"/>
          <p:cNvSpPr/>
          <p:nvPr/>
        </p:nvSpPr>
        <p:spPr>
          <a:xfrm>
            <a:off x="3076956" y="3648456"/>
            <a:ext cx="0" cy="91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3" name="Shape 51"/>
          <p:cNvSpPr/>
          <p:nvPr/>
        </p:nvSpPr>
        <p:spPr>
          <a:xfrm>
            <a:off x="2139696" y="394563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54" name="Shape 52"/>
          <p:cNvSpPr/>
          <p:nvPr/>
        </p:nvSpPr>
        <p:spPr>
          <a:xfrm>
            <a:off x="2139696" y="3739896"/>
            <a:ext cx="1874520" cy="411480"/>
          </a:xfrm>
          <a:prstGeom prst="rect">
            <a:avLst/>
          </a:prstGeom>
          <a:solidFill>
            <a:srgbClr val="FAEEE9"/>
          </a:solidFill>
          <a:ln w="9525">
            <a:solidFill>
              <a:srgbClr val="B34520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5" name="Text 53"/>
          <p:cNvSpPr/>
          <p:nvPr/>
        </p:nvSpPr>
        <p:spPr>
          <a:xfrm>
            <a:off x="2185416" y="373989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6B1A00"/>
                </a:solidFill>
              </a:rPr>
              <a:t>客戶服務</a:t>
            </a:r>
            <a:endParaRPr lang="en-US" sz="950" dirty="0"/>
          </a:p>
        </p:txBody>
      </p:sp>
      <p:sp>
        <p:nvSpPr>
          <p:cNvPr id="56" name="Shape 54"/>
          <p:cNvSpPr/>
          <p:nvPr/>
        </p:nvSpPr>
        <p:spPr>
          <a:xfrm>
            <a:off x="6080760" y="1316736"/>
            <a:ext cx="0" cy="914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7" name="Shape 55"/>
          <p:cNvSpPr/>
          <p:nvPr/>
        </p:nvSpPr>
        <p:spPr>
          <a:xfrm>
            <a:off x="5079492" y="1408176"/>
            <a:ext cx="0" cy="16459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58" name="Shape 56"/>
          <p:cNvSpPr/>
          <p:nvPr/>
        </p:nvSpPr>
        <p:spPr>
          <a:xfrm>
            <a:off x="4142232" y="1572768"/>
            <a:ext cx="1874520" cy="43891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59" name="Text 57"/>
          <p:cNvSpPr/>
          <p:nvPr/>
        </p:nvSpPr>
        <p:spPr>
          <a:xfrm>
            <a:off x="4142232" y="157276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創新研發</a:t>
            </a:r>
            <a:endParaRPr lang="en-US" sz="1100" dirty="0"/>
          </a:p>
        </p:txBody>
      </p:sp>
      <p:sp>
        <p:nvSpPr>
          <p:cNvPr id="60" name="Shape 58"/>
          <p:cNvSpPr/>
          <p:nvPr/>
        </p:nvSpPr>
        <p:spPr>
          <a:xfrm>
            <a:off x="5079492" y="2011680"/>
            <a:ext cx="0" cy="219456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1" name="Shape 59"/>
          <p:cNvSpPr/>
          <p:nvPr/>
        </p:nvSpPr>
        <p:spPr>
          <a:xfrm>
            <a:off x="4142232" y="243687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2" name="Shape 60"/>
          <p:cNvSpPr/>
          <p:nvPr/>
        </p:nvSpPr>
        <p:spPr>
          <a:xfrm>
            <a:off x="4142232" y="2231136"/>
            <a:ext cx="1874520" cy="411480"/>
          </a:xfrm>
          <a:prstGeom prst="rect">
            <a:avLst/>
          </a:prstGeom>
          <a:solidFill>
            <a:srgbClr val="E6F1FB"/>
          </a:solidFill>
          <a:ln w="9525">
            <a:solidFill>
              <a:srgbClr val="1A5FA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3" name="Text 61"/>
          <p:cNvSpPr/>
          <p:nvPr/>
        </p:nvSpPr>
        <p:spPr>
          <a:xfrm>
            <a:off x="4187952" y="22311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3566"/>
                </a:solidFill>
              </a:rPr>
              <a:t>材料應用</a:t>
            </a:r>
            <a:endParaRPr lang="en-US" sz="950" dirty="0"/>
          </a:p>
        </p:txBody>
      </p:sp>
      <p:sp>
        <p:nvSpPr>
          <p:cNvPr id="64" name="Shape 62"/>
          <p:cNvSpPr/>
          <p:nvPr/>
        </p:nvSpPr>
        <p:spPr>
          <a:xfrm>
            <a:off x="5079492" y="2642616"/>
            <a:ext cx="0" cy="91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5" name="Shape 63"/>
          <p:cNvSpPr/>
          <p:nvPr/>
        </p:nvSpPr>
        <p:spPr>
          <a:xfrm>
            <a:off x="4142232" y="293979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6" name="Shape 64"/>
          <p:cNvSpPr/>
          <p:nvPr/>
        </p:nvSpPr>
        <p:spPr>
          <a:xfrm>
            <a:off x="4142232" y="2734056"/>
            <a:ext cx="1874520" cy="411480"/>
          </a:xfrm>
          <a:prstGeom prst="rect">
            <a:avLst/>
          </a:prstGeom>
          <a:solidFill>
            <a:srgbClr val="E6F1FB"/>
          </a:solidFill>
          <a:ln w="9525">
            <a:solidFill>
              <a:srgbClr val="1A5FA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67" name="Text 65"/>
          <p:cNvSpPr/>
          <p:nvPr/>
        </p:nvSpPr>
        <p:spPr>
          <a:xfrm>
            <a:off x="4187952" y="27340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3566"/>
                </a:solidFill>
              </a:rPr>
              <a:t>製程技術</a:t>
            </a:r>
            <a:endParaRPr lang="en-US" sz="950" dirty="0"/>
          </a:p>
        </p:txBody>
      </p:sp>
      <p:sp>
        <p:nvSpPr>
          <p:cNvPr id="68" name="Shape 66"/>
          <p:cNvSpPr/>
          <p:nvPr/>
        </p:nvSpPr>
        <p:spPr>
          <a:xfrm>
            <a:off x="5079492" y="3145536"/>
            <a:ext cx="0" cy="91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69" name="Shape 67"/>
          <p:cNvSpPr/>
          <p:nvPr/>
        </p:nvSpPr>
        <p:spPr>
          <a:xfrm>
            <a:off x="4142232" y="344271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0" name="Shape 68"/>
          <p:cNvSpPr/>
          <p:nvPr/>
        </p:nvSpPr>
        <p:spPr>
          <a:xfrm>
            <a:off x="4142232" y="3236976"/>
            <a:ext cx="1874520" cy="411480"/>
          </a:xfrm>
          <a:prstGeom prst="rect">
            <a:avLst/>
          </a:prstGeom>
          <a:solidFill>
            <a:srgbClr val="E6F1FB"/>
          </a:solidFill>
          <a:ln w="9525">
            <a:solidFill>
              <a:srgbClr val="1A5FA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1" name="Text 69"/>
          <p:cNvSpPr/>
          <p:nvPr/>
        </p:nvSpPr>
        <p:spPr>
          <a:xfrm>
            <a:off x="4187952" y="323697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3566"/>
                </a:solidFill>
              </a:rPr>
              <a:t>產品開發</a:t>
            </a:r>
            <a:endParaRPr lang="en-US" sz="950" dirty="0"/>
          </a:p>
        </p:txBody>
      </p:sp>
      <p:sp>
        <p:nvSpPr>
          <p:cNvPr id="72" name="Shape 70"/>
          <p:cNvSpPr/>
          <p:nvPr/>
        </p:nvSpPr>
        <p:spPr>
          <a:xfrm>
            <a:off x="5079492" y="3648456"/>
            <a:ext cx="0" cy="91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3" name="Shape 71"/>
          <p:cNvSpPr/>
          <p:nvPr/>
        </p:nvSpPr>
        <p:spPr>
          <a:xfrm>
            <a:off x="4142232" y="394563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74" name="Shape 72"/>
          <p:cNvSpPr/>
          <p:nvPr/>
        </p:nvSpPr>
        <p:spPr>
          <a:xfrm>
            <a:off x="4142232" y="3739896"/>
            <a:ext cx="1874520" cy="411480"/>
          </a:xfrm>
          <a:prstGeom prst="rect">
            <a:avLst/>
          </a:prstGeom>
          <a:solidFill>
            <a:srgbClr val="E6F1FB"/>
          </a:solidFill>
          <a:ln w="9525">
            <a:solidFill>
              <a:srgbClr val="1A5FA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5" name="Text 73"/>
          <p:cNvSpPr/>
          <p:nvPr/>
        </p:nvSpPr>
        <p:spPr>
          <a:xfrm>
            <a:off x="4187952" y="373989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0D3566"/>
                </a:solidFill>
              </a:rPr>
              <a:t>製造整合</a:t>
            </a:r>
            <a:endParaRPr lang="en-US" sz="950" dirty="0"/>
          </a:p>
        </p:txBody>
      </p:sp>
      <p:sp>
        <p:nvSpPr>
          <p:cNvPr id="76" name="Shape 74"/>
          <p:cNvSpPr/>
          <p:nvPr/>
        </p:nvSpPr>
        <p:spPr>
          <a:xfrm>
            <a:off x="6080760" y="1316736"/>
            <a:ext cx="0" cy="914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7" name="Shape 75"/>
          <p:cNvSpPr/>
          <p:nvPr/>
        </p:nvSpPr>
        <p:spPr>
          <a:xfrm>
            <a:off x="7082028" y="1408176"/>
            <a:ext cx="0" cy="16459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78" name="Shape 76"/>
          <p:cNvSpPr/>
          <p:nvPr/>
        </p:nvSpPr>
        <p:spPr>
          <a:xfrm>
            <a:off x="6144768" y="1572768"/>
            <a:ext cx="1874520" cy="438912"/>
          </a:xfrm>
          <a:prstGeom prst="rect">
            <a:avLst/>
          </a:prstGeom>
          <a:solidFill>
            <a:srgbClr val="3B6D11"/>
          </a:solidFill>
          <a:ln w="12700">
            <a:solidFill>
              <a:srgbClr val="3B6D1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9" name="Text 77"/>
          <p:cNvSpPr/>
          <p:nvPr/>
        </p:nvSpPr>
        <p:spPr>
          <a:xfrm>
            <a:off x="6144768" y="157276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核心能力</a:t>
            </a:r>
            <a:endParaRPr lang="en-US" sz="1100" dirty="0"/>
          </a:p>
        </p:txBody>
      </p:sp>
      <p:sp>
        <p:nvSpPr>
          <p:cNvPr id="80" name="Shape 78"/>
          <p:cNvSpPr/>
          <p:nvPr/>
        </p:nvSpPr>
        <p:spPr>
          <a:xfrm>
            <a:off x="7082028" y="2011680"/>
            <a:ext cx="0" cy="219456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1" name="Shape 79"/>
          <p:cNvSpPr/>
          <p:nvPr/>
        </p:nvSpPr>
        <p:spPr>
          <a:xfrm>
            <a:off x="6144768" y="243687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2" name="Shape 80"/>
          <p:cNvSpPr/>
          <p:nvPr/>
        </p:nvSpPr>
        <p:spPr>
          <a:xfrm>
            <a:off x="6144768" y="2231136"/>
            <a:ext cx="1874520" cy="411480"/>
          </a:xfrm>
          <a:prstGeom prst="rect">
            <a:avLst/>
          </a:prstGeom>
          <a:solidFill>
            <a:srgbClr val="EAF3DE"/>
          </a:solidFill>
          <a:ln w="9525">
            <a:solidFill>
              <a:srgbClr val="3B6D1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  <p:txBody>
          <a:bodyPr/>
          <a:lstStyle/>
          <a:p>
            <a:endParaRPr lang="zh-TW" altLang="en-US" dirty="0"/>
          </a:p>
        </p:txBody>
      </p:sp>
      <p:sp>
        <p:nvSpPr>
          <p:cNvPr id="83" name="Text 81"/>
          <p:cNvSpPr/>
          <p:nvPr/>
        </p:nvSpPr>
        <p:spPr>
          <a:xfrm>
            <a:off x="6190488" y="22311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3A06"/>
                </a:solidFill>
              </a:rPr>
              <a:t>技術研發</a:t>
            </a:r>
            <a:endParaRPr lang="en-US" sz="950" dirty="0"/>
          </a:p>
        </p:txBody>
      </p:sp>
      <p:sp>
        <p:nvSpPr>
          <p:cNvPr id="84" name="Shape 82"/>
          <p:cNvSpPr/>
          <p:nvPr/>
        </p:nvSpPr>
        <p:spPr>
          <a:xfrm>
            <a:off x="7082028" y="2642616"/>
            <a:ext cx="0" cy="91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5" name="Shape 83"/>
          <p:cNvSpPr/>
          <p:nvPr/>
        </p:nvSpPr>
        <p:spPr>
          <a:xfrm>
            <a:off x="6144768" y="293979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6" name="Shape 84"/>
          <p:cNvSpPr/>
          <p:nvPr/>
        </p:nvSpPr>
        <p:spPr>
          <a:xfrm>
            <a:off x="6144768" y="2734056"/>
            <a:ext cx="1874520" cy="411480"/>
          </a:xfrm>
          <a:prstGeom prst="rect">
            <a:avLst/>
          </a:prstGeom>
          <a:solidFill>
            <a:srgbClr val="EAF3DE"/>
          </a:solidFill>
          <a:ln w="9525">
            <a:solidFill>
              <a:srgbClr val="3B6D1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7" name="Text 85"/>
          <p:cNvSpPr/>
          <p:nvPr/>
        </p:nvSpPr>
        <p:spPr>
          <a:xfrm>
            <a:off x="6190488" y="27340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3A06"/>
                </a:solidFill>
              </a:rPr>
              <a:t>生產製造</a:t>
            </a:r>
            <a:endParaRPr lang="en-US" sz="950" dirty="0"/>
          </a:p>
        </p:txBody>
      </p:sp>
      <p:sp>
        <p:nvSpPr>
          <p:cNvPr id="88" name="Shape 86"/>
          <p:cNvSpPr/>
          <p:nvPr/>
        </p:nvSpPr>
        <p:spPr>
          <a:xfrm>
            <a:off x="7082028" y="3145536"/>
            <a:ext cx="0" cy="91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89" name="Shape 87"/>
          <p:cNvSpPr/>
          <p:nvPr/>
        </p:nvSpPr>
        <p:spPr>
          <a:xfrm>
            <a:off x="6144768" y="344271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90" name="Shape 88"/>
          <p:cNvSpPr/>
          <p:nvPr/>
        </p:nvSpPr>
        <p:spPr>
          <a:xfrm>
            <a:off x="6144768" y="3236976"/>
            <a:ext cx="1874520" cy="411480"/>
          </a:xfrm>
          <a:prstGeom prst="rect">
            <a:avLst/>
          </a:prstGeom>
          <a:solidFill>
            <a:srgbClr val="EAF3DE"/>
          </a:solidFill>
          <a:ln w="9525">
            <a:solidFill>
              <a:srgbClr val="3B6D1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1" name="Text 89"/>
          <p:cNvSpPr/>
          <p:nvPr/>
        </p:nvSpPr>
        <p:spPr>
          <a:xfrm>
            <a:off x="6190488" y="323697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3A06"/>
                </a:solidFill>
              </a:rPr>
              <a:t>品質檢測</a:t>
            </a:r>
            <a:endParaRPr lang="en-US" sz="950" dirty="0"/>
          </a:p>
        </p:txBody>
      </p:sp>
      <p:sp>
        <p:nvSpPr>
          <p:cNvPr id="92" name="Shape 90"/>
          <p:cNvSpPr/>
          <p:nvPr/>
        </p:nvSpPr>
        <p:spPr>
          <a:xfrm>
            <a:off x="7082028" y="3648456"/>
            <a:ext cx="0" cy="91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93" name="Shape 91"/>
          <p:cNvSpPr/>
          <p:nvPr/>
        </p:nvSpPr>
        <p:spPr>
          <a:xfrm>
            <a:off x="6144768" y="394563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94" name="Shape 92"/>
          <p:cNvSpPr/>
          <p:nvPr/>
        </p:nvSpPr>
        <p:spPr>
          <a:xfrm>
            <a:off x="6144768" y="3739896"/>
            <a:ext cx="1874520" cy="411480"/>
          </a:xfrm>
          <a:prstGeom prst="rect">
            <a:avLst/>
          </a:prstGeom>
          <a:solidFill>
            <a:srgbClr val="EAF3DE"/>
          </a:solidFill>
          <a:ln w="9525">
            <a:solidFill>
              <a:srgbClr val="3B6D11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5" name="Text 93"/>
          <p:cNvSpPr/>
          <p:nvPr/>
        </p:nvSpPr>
        <p:spPr>
          <a:xfrm>
            <a:off x="6190488" y="373989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1E3A06"/>
                </a:solidFill>
              </a:rPr>
              <a:t>系統認證</a:t>
            </a:r>
            <a:endParaRPr lang="en-US" sz="950" dirty="0"/>
          </a:p>
        </p:txBody>
      </p:sp>
      <p:sp>
        <p:nvSpPr>
          <p:cNvPr id="96" name="Shape 94"/>
          <p:cNvSpPr/>
          <p:nvPr/>
        </p:nvSpPr>
        <p:spPr>
          <a:xfrm>
            <a:off x="6080760" y="1316736"/>
            <a:ext cx="0" cy="914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7" name="Shape 95"/>
          <p:cNvSpPr/>
          <p:nvPr/>
        </p:nvSpPr>
        <p:spPr>
          <a:xfrm>
            <a:off x="9084564" y="1408176"/>
            <a:ext cx="0" cy="16459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98" name="Shape 96"/>
          <p:cNvSpPr/>
          <p:nvPr/>
        </p:nvSpPr>
        <p:spPr>
          <a:xfrm>
            <a:off x="8147304" y="1572768"/>
            <a:ext cx="1874520" cy="438912"/>
          </a:xfrm>
          <a:prstGeom prst="rect">
            <a:avLst/>
          </a:prstGeom>
          <a:solidFill>
            <a:srgbClr val="8A5309"/>
          </a:solidFill>
          <a:ln w="12700">
            <a:solidFill>
              <a:srgbClr val="8A530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99" name="Text 97"/>
          <p:cNvSpPr/>
          <p:nvPr/>
        </p:nvSpPr>
        <p:spPr>
          <a:xfrm>
            <a:off x="8147304" y="157276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投資人專區</a:t>
            </a:r>
            <a:endParaRPr lang="en-US" sz="1100" dirty="0"/>
          </a:p>
        </p:txBody>
      </p:sp>
      <p:sp>
        <p:nvSpPr>
          <p:cNvPr id="100" name="Shape 98"/>
          <p:cNvSpPr/>
          <p:nvPr/>
        </p:nvSpPr>
        <p:spPr>
          <a:xfrm>
            <a:off x="9084564" y="2011680"/>
            <a:ext cx="0" cy="219456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01" name="Shape 99"/>
          <p:cNvSpPr/>
          <p:nvPr/>
        </p:nvSpPr>
        <p:spPr>
          <a:xfrm>
            <a:off x="8147304" y="243687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02" name="Shape 100"/>
          <p:cNvSpPr/>
          <p:nvPr/>
        </p:nvSpPr>
        <p:spPr>
          <a:xfrm>
            <a:off x="8147304" y="2231136"/>
            <a:ext cx="1874520" cy="411480"/>
          </a:xfrm>
          <a:prstGeom prst="rect">
            <a:avLst/>
          </a:prstGeom>
          <a:solidFill>
            <a:srgbClr val="FAF0DA"/>
          </a:solidFill>
          <a:ln w="9525">
            <a:solidFill>
              <a:srgbClr val="8A530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3" name="Text 101"/>
          <p:cNvSpPr/>
          <p:nvPr/>
        </p:nvSpPr>
        <p:spPr>
          <a:xfrm>
            <a:off x="8193024" y="22311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2300"/>
                </a:solidFill>
              </a:rPr>
              <a:t>財務資訊</a:t>
            </a:r>
            <a:endParaRPr lang="en-US" sz="950" dirty="0"/>
          </a:p>
        </p:txBody>
      </p:sp>
      <p:sp>
        <p:nvSpPr>
          <p:cNvPr id="104" name="Shape 102"/>
          <p:cNvSpPr/>
          <p:nvPr/>
        </p:nvSpPr>
        <p:spPr>
          <a:xfrm>
            <a:off x="9084564" y="2642616"/>
            <a:ext cx="0" cy="91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05" name="Shape 103"/>
          <p:cNvSpPr/>
          <p:nvPr/>
        </p:nvSpPr>
        <p:spPr>
          <a:xfrm>
            <a:off x="8147304" y="293979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06" name="Shape 104"/>
          <p:cNvSpPr/>
          <p:nvPr/>
        </p:nvSpPr>
        <p:spPr>
          <a:xfrm>
            <a:off x="8147304" y="2734056"/>
            <a:ext cx="1874520" cy="411480"/>
          </a:xfrm>
          <a:prstGeom prst="rect">
            <a:avLst/>
          </a:prstGeom>
          <a:solidFill>
            <a:srgbClr val="FAF0DA"/>
          </a:solidFill>
          <a:ln w="9525">
            <a:solidFill>
              <a:srgbClr val="8A530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07" name="Text 105"/>
          <p:cNvSpPr/>
          <p:nvPr/>
        </p:nvSpPr>
        <p:spPr>
          <a:xfrm>
            <a:off x="8193024" y="27340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2300"/>
                </a:solidFill>
              </a:rPr>
              <a:t>股東專欄</a:t>
            </a:r>
            <a:endParaRPr lang="en-US" sz="950" dirty="0"/>
          </a:p>
        </p:txBody>
      </p:sp>
      <p:sp>
        <p:nvSpPr>
          <p:cNvPr id="108" name="Shape 106"/>
          <p:cNvSpPr/>
          <p:nvPr/>
        </p:nvSpPr>
        <p:spPr>
          <a:xfrm>
            <a:off x="9084564" y="3145536"/>
            <a:ext cx="0" cy="91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09" name="Shape 107"/>
          <p:cNvSpPr/>
          <p:nvPr/>
        </p:nvSpPr>
        <p:spPr>
          <a:xfrm>
            <a:off x="8147304" y="344271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10" name="Shape 108"/>
          <p:cNvSpPr/>
          <p:nvPr/>
        </p:nvSpPr>
        <p:spPr>
          <a:xfrm>
            <a:off x="8147304" y="3236976"/>
            <a:ext cx="1874520" cy="411480"/>
          </a:xfrm>
          <a:prstGeom prst="rect">
            <a:avLst/>
          </a:prstGeom>
          <a:solidFill>
            <a:srgbClr val="FAF0DA"/>
          </a:solidFill>
          <a:ln w="9525">
            <a:solidFill>
              <a:srgbClr val="8A5309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1" name="Text 109"/>
          <p:cNvSpPr/>
          <p:nvPr/>
        </p:nvSpPr>
        <p:spPr>
          <a:xfrm>
            <a:off x="8193024" y="323697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4A2300"/>
                </a:solidFill>
              </a:rPr>
              <a:t>公司治理</a:t>
            </a:r>
            <a:endParaRPr lang="en-US" sz="950" dirty="0"/>
          </a:p>
        </p:txBody>
      </p:sp>
      <p:sp>
        <p:nvSpPr>
          <p:cNvPr id="112" name="Shape 110"/>
          <p:cNvSpPr/>
          <p:nvPr/>
        </p:nvSpPr>
        <p:spPr>
          <a:xfrm>
            <a:off x="6080760" y="1316736"/>
            <a:ext cx="0" cy="91440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3" name="Shape 111"/>
          <p:cNvSpPr/>
          <p:nvPr/>
        </p:nvSpPr>
        <p:spPr>
          <a:xfrm>
            <a:off x="11087100" y="1408176"/>
            <a:ext cx="0" cy="164592"/>
          </a:xfrm>
          <a:prstGeom prst="line">
            <a:avLst/>
          </a:prstGeom>
          <a:noFill/>
          <a:ln w="12700">
            <a:solidFill>
              <a:srgbClr val="CCCCCC"/>
            </a:solidFill>
            <a:prstDash val="solid"/>
          </a:ln>
        </p:spPr>
      </p:sp>
      <p:sp>
        <p:nvSpPr>
          <p:cNvPr id="114" name="Shape 112"/>
          <p:cNvSpPr/>
          <p:nvPr/>
        </p:nvSpPr>
        <p:spPr>
          <a:xfrm>
            <a:off x="10149840" y="1572768"/>
            <a:ext cx="1874520" cy="438912"/>
          </a:xfrm>
          <a:prstGeom prst="rect">
            <a:avLst/>
          </a:prstGeom>
          <a:solidFill>
            <a:srgbClr val="9C3358"/>
          </a:solidFill>
          <a:ln w="12700">
            <a:solidFill>
              <a:srgbClr val="9C335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5" name="Text 113"/>
          <p:cNvSpPr/>
          <p:nvPr/>
        </p:nvSpPr>
        <p:spPr>
          <a:xfrm>
            <a:off x="10149840" y="1572768"/>
            <a:ext cx="187452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</a:rPr>
              <a:t>人力資源</a:t>
            </a:r>
            <a:endParaRPr lang="en-US" sz="1100" dirty="0"/>
          </a:p>
        </p:txBody>
      </p:sp>
      <p:sp>
        <p:nvSpPr>
          <p:cNvPr id="116" name="Shape 114"/>
          <p:cNvSpPr/>
          <p:nvPr/>
        </p:nvSpPr>
        <p:spPr>
          <a:xfrm>
            <a:off x="11087100" y="2011680"/>
            <a:ext cx="0" cy="219456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17" name="Shape 115"/>
          <p:cNvSpPr/>
          <p:nvPr/>
        </p:nvSpPr>
        <p:spPr>
          <a:xfrm>
            <a:off x="10149840" y="243687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18" name="Shape 116"/>
          <p:cNvSpPr/>
          <p:nvPr/>
        </p:nvSpPr>
        <p:spPr>
          <a:xfrm>
            <a:off x="10149840" y="2231136"/>
            <a:ext cx="1874520" cy="411480"/>
          </a:xfrm>
          <a:prstGeom prst="rect">
            <a:avLst/>
          </a:prstGeom>
          <a:solidFill>
            <a:srgbClr val="FBEAF0"/>
          </a:solidFill>
          <a:ln w="9525">
            <a:solidFill>
              <a:srgbClr val="9C335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19" name="Text 117"/>
          <p:cNvSpPr/>
          <p:nvPr/>
        </p:nvSpPr>
        <p:spPr>
          <a:xfrm>
            <a:off x="10195560" y="223113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0C2C"/>
                </a:solidFill>
              </a:rPr>
              <a:t>選擇州巧</a:t>
            </a:r>
            <a:endParaRPr lang="en-US" sz="950" dirty="0"/>
          </a:p>
        </p:txBody>
      </p:sp>
      <p:sp>
        <p:nvSpPr>
          <p:cNvPr id="120" name="Shape 118"/>
          <p:cNvSpPr/>
          <p:nvPr/>
        </p:nvSpPr>
        <p:spPr>
          <a:xfrm>
            <a:off x="11087100" y="2642616"/>
            <a:ext cx="0" cy="91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21" name="Shape 119"/>
          <p:cNvSpPr/>
          <p:nvPr/>
        </p:nvSpPr>
        <p:spPr>
          <a:xfrm>
            <a:off x="10149840" y="293979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22" name="Shape 120"/>
          <p:cNvSpPr/>
          <p:nvPr/>
        </p:nvSpPr>
        <p:spPr>
          <a:xfrm>
            <a:off x="10149840" y="2734056"/>
            <a:ext cx="1874520" cy="411480"/>
          </a:xfrm>
          <a:prstGeom prst="rect">
            <a:avLst/>
          </a:prstGeom>
          <a:solidFill>
            <a:srgbClr val="FBEAF0"/>
          </a:solidFill>
          <a:ln w="9525">
            <a:solidFill>
              <a:srgbClr val="9C335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3" name="Text 121"/>
          <p:cNvSpPr/>
          <p:nvPr/>
        </p:nvSpPr>
        <p:spPr>
          <a:xfrm>
            <a:off x="10195560" y="273405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0C2C"/>
                </a:solidFill>
              </a:rPr>
              <a:t>志同道合</a:t>
            </a:r>
            <a:endParaRPr lang="en-US" sz="950" dirty="0"/>
          </a:p>
        </p:txBody>
      </p:sp>
      <p:sp>
        <p:nvSpPr>
          <p:cNvPr id="124" name="Shape 122"/>
          <p:cNvSpPr/>
          <p:nvPr/>
        </p:nvSpPr>
        <p:spPr>
          <a:xfrm>
            <a:off x="11087100" y="3145536"/>
            <a:ext cx="0" cy="91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25" name="Shape 123"/>
          <p:cNvSpPr/>
          <p:nvPr/>
        </p:nvSpPr>
        <p:spPr>
          <a:xfrm>
            <a:off x="10149840" y="344271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26" name="Shape 124"/>
          <p:cNvSpPr/>
          <p:nvPr/>
        </p:nvSpPr>
        <p:spPr>
          <a:xfrm>
            <a:off x="10149840" y="3236976"/>
            <a:ext cx="1874520" cy="411480"/>
          </a:xfrm>
          <a:prstGeom prst="rect">
            <a:avLst/>
          </a:prstGeom>
          <a:solidFill>
            <a:srgbClr val="FBEAF0"/>
          </a:solidFill>
          <a:ln w="9525">
            <a:solidFill>
              <a:srgbClr val="9C335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27" name="Text 125"/>
          <p:cNvSpPr/>
          <p:nvPr/>
        </p:nvSpPr>
        <p:spPr>
          <a:xfrm>
            <a:off x="10195560" y="323697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0C2C"/>
                </a:solidFill>
              </a:rPr>
              <a:t>福利措施</a:t>
            </a:r>
            <a:endParaRPr lang="en-US" sz="950" dirty="0"/>
          </a:p>
        </p:txBody>
      </p:sp>
      <p:sp>
        <p:nvSpPr>
          <p:cNvPr id="128" name="Shape 126"/>
          <p:cNvSpPr/>
          <p:nvPr/>
        </p:nvSpPr>
        <p:spPr>
          <a:xfrm>
            <a:off x="11087100" y="3648456"/>
            <a:ext cx="0" cy="91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29" name="Shape 127"/>
          <p:cNvSpPr/>
          <p:nvPr/>
        </p:nvSpPr>
        <p:spPr>
          <a:xfrm>
            <a:off x="10149840" y="394563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30" name="Shape 128"/>
          <p:cNvSpPr/>
          <p:nvPr/>
        </p:nvSpPr>
        <p:spPr>
          <a:xfrm>
            <a:off x="10149840" y="3739896"/>
            <a:ext cx="1874520" cy="411480"/>
          </a:xfrm>
          <a:prstGeom prst="rect">
            <a:avLst/>
          </a:prstGeom>
          <a:solidFill>
            <a:srgbClr val="FBEAF0"/>
          </a:solidFill>
          <a:ln w="9525">
            <a:solidFill>
              <a:srgbClr val="9C335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1" name="Text 129"/>
          <p:cNvSpPr/>
          <p:nvPr/>
        </p:nvSpPr>
        <p:spPr>
          <a:xfrm>
            <a:off x="10195560" y="373989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0C2C"/>
                </a:solidFill>
              </a:rPr>
              <a:t>職涯發展</a:t>
            </a:r>
            <a:endParaRPr lang="en-US" sz="950" dirty="0"/>
          </a:p>
        </p:txBody>
      </p:sp>
      <p:sp>
        <p:nvSpPr>
          <p:cNvPr id="132" name="Shape 130"/>
          <p:cNvSpPr/>
          <p:nvPr/>
        </p:nvSpPr>
        <p:spPr>
          <a:xfrm>
            <a:off x="11087100" y="4151376"/>
            <a:ext cx="0" cy="9144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33" name="Shape 131"/>
          <p:cNvSpPr/>
          <p:nvPr/>
        </p:nvSpPr>
        <p:spPr>
          <a:xfrm>
            <a:off x="10149840" y="4448556"/>
            <a:ext cx="937260" cy="0"/>
          </a:xfrm>
          <a:prstGeom prst="line">
            <a:avLst/>
          </a:prstGeom>
          <a:noFill/>
          <a:ln w="9525">
            <a:solidFill>
              <a:srgbClr val="CCCCCC"/>
            </a:solidFill>
            <a:prstDash val="solid"/>
          </a:ln>
        </p:spPr>
      </p:sp>
      <p:sp>
        <p:nvSpPr>
          <p:cNvPr id="134" name="Shape 132"/>
          <p:cNvSpPr/>
          <p:nvPr/>
        </p:nvSpPr>
        <p:spPr>
          <a:xfrm>
            <a:off x="10149840" y="4242816"/>
            <a:ext cx="1874520" cy="411480"/>
          </a:xfrm>
          <a:prstGeom prst="rect">
            <a:avLst/>
          </a:prstGeom>
          <a:solidFill>
            <a:srgbClr val="FBEAF0"/>
          </a:solidFill>
          <a:ln w="9525">
            <a:solidFill>
              <a:srgbClr val="9C335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135" name="Text 133"/>
          <p:cNvSpPr/>
          <p:nvPr/>
        </p:nvSpPr>
        <p:spPr>
          <a:xfrm>
            <a:off x="10195560" y="4242816"/>
            <a:ext cx="1783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5A0C2C"/>
                </a:solidFill>
              </a:rPr>
              <a:t>人才職缺</a:t>
            </a:r>
            <a:endParaRPr lang="en-US" sz="950" dirty="0"/>
          </a:p>
        </p:txBody>
      </p:sp>
      <p:sp>
        <p:nvSpPr>
          <p:cNvPr id="136" name="Shape 134"/>
          <p:cNvSpPr/>
          <p:nvPr/>
        </p:nvSpPr>
        <p:spPr>
          <a:xfrm>
            <a:off x="182880" y="6720840"/>
            <a:ext cx="117957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7F8F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矩形 28">
            <a:extLst>
              <a:ext uri="{FF2B5EF4-FFF2-40B4-BE49-F238E27FC236}">
                <a16:creationId xmlns:a16="http://schemas.microsoft.com/office/drawing/2014/main" id="{1D296EEF-A3E4-4883-BBD7-AC0C0DFF0A32}"/>
              </a:ext>
            </a:extLst>
          </p:cNvPr>
          <p:cNvSpPr/>
          <p:nvPr/>
        </p:nvSpPr>
        <p:spPr>
          <a:xfrm>
            <a:off x="9971847" y="4710663"/>
            <a:ext cx="1823913" cy="1849073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t"/>
          <a:lstStyle/>
          <a:p>
            <a:pPr algn="ctr"/>
            <a:r>
              <a:rPr lang="zh-TW" altLang="en-US" sz="1200" dirty="0">
                <a:solidFill>
                  <a:schemeClr val="accent1"/>
                </a:solidFill>
              </a:rPr>
              <a:t>待確認項目</a:t>
            </a:r>
            <a:r>
              <a:rPr lang="en-US" altLang="zh-TW" sz="1200" dirty="0">
                <a:solidFill>
                  <a:schemeClr val="accent1"/>
                </a:solidFill>
              </a:rPr>
              <a:t>(ESG</a:t>
            </a:r>
            <a:r>
              <a:rPr lang="zh-TW" altLang="en-US" sz="1200" dirty="0">
                <a:solidFill>
                  <a:schemeClr val="accent1"/>
                </a:solidFill>
              </a:rPr>
              <a:t>裡或解決方案裡呈現</a:t>
            </a:r>
            <a:r>
              <a:rPr lang="en-US" altLang="zh-TW" sz="1200" dirty="0">
                <a:solidFill>
                  <a:schemeClr val="accent1"/>
                </a:solidFill>
              </a:rPr>
              <a:t>)</a:t>
            </a:r>
            <a:endParaRPr lang="zh-TW" altLang="en-US" sz="1200" dirty="0">
              <a:solidFill>
                <a:schemeClr val="accent1"/>
              </a:solidFill>
            </a:endParaRPr>
          </a:p>
        </p:txBody>
      </p:sp>
      <p:sp>
        <p:nvSpPr>
          <p:cNvPr id="2" name="Shape 0"/>
          <p:cNvSpPr/>
          <p:nvPr/>
        </p:nvSpPr>
        <p:spPr>
          <a:xfrm>
            <a:off x="0" y="0"/>
            <a:ext cx="12161520" cy="658368"/>
          </a:xfrm>
          <a:prstGeom prst="rect">
            <a:avLst/>
          </a:prstGeom>
          <a:solidFill>
            <a:srgbClr val="534AB7"/>
          </a:solidFill>
          <a:ln w="12700">
            <a:solidFill>
              <a:srgbClr val="534AB7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114300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 dirty="0" err="1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州巧科技｜新架構規劃草稿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6" name="Shape 4">
            <a:hlinkClick r:id="rId3" action="ppaction://hlinkpres?slideindex=1&amp;slidetitle="/>
          </p:cNvPr>
          <p:cNvSpPr/>
          <p:nvPr/>
        </p:nvSpPr>
        <p:spPr>
          <a:xfrm>
            <a:off x="4052615" y="1364161"/>
            <a:ext cx="1620000" cy="457200"/>
          </a:xfrm>
          <a:prstGeom prst="rect">
            <a:avLst/>
          </a:prstGeom>
          <a:solidFill>
            <a:srgbClr val="4A4A48"/>
          </a:solidFill>
          <a:ln w="12700">
            <a:solidFill>
              <a:srgbClr val="4A4A4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4052615" y="1364161"/>
            <a:ext cx="1620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關於州巧</a:t>
            </a:r>
            <a:endParaRPr kumimoji="0" lang="en-US" sz="11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grpSp>
        <p:nvGrpSpPr>
          <p:cNvPr id="116" name="群組 115">
            <a:extLst>
              <a:ext uri="{FF2B5EF4-FFF2-40B4-BE49-F238E27FC236}">
                <a16:creationId xmlns:a16="http://schemas.microsoft.com/office/drawing/2014/main" id="{A4221338-12E8-467E-A046-89EC21208B73}"/>
              </a:ext>
            </a:extLst>
          </p:cNvPr>
          <p:cNvGrpSpPr/>
          <p:nvPr/>
        </p:nvGrpSpPr>
        <p:grpSpPr>
          <a:xfrm>
            <a:off x="4052615" y="1940233"/>
            <a:ext cx="1620000" cy="530352"/>
            <a:chOff x="2808996" y="1917373"/>
            <a:chExt cx="1874520" cy="530352"/>
          </a:xfrm>
        </p:grpSpPr>
        <p:sp>
          <p:nvSpPr>
            <p:cNvPr id="8" name="Shape 6"/>
            <p:cNvSpPr/>
            <p:nvPr/>
          </p:nvSpPr>
          <p:spPr>
            <a:xfrm>
              <a:off x="2808996" y="1917373"/>
              <a:ext cx="1874520" cy="530352"/>
            </a:xfrm>
            <a:prstGeom prst="rect">
              <a:avLst/>
            </a:prstGeom>
            <a:solidFill>
              <a:srgbClr val="F1EFE8"/>
            </a:solidFill>
            <a:ln w="9525">
              <a:solidFill>
                <a:srgbClr val="4A4A48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9" name="Text 7"/>
            <p:cNvSpPr/>
            <p:nvPr/>
          </p:nvSpPr>
          <p:spPr>
            <a:xfrm>
              <a:off x="2854716" y="1917373"/>
              <a:ext cx="17830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州巧</a:t>
              </a: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簡介</a:t>
              </a:r>
              <a:r>
                <a: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(</a:t>
              </a:r>
              <a:r>
                <a:rPr kumimoji="0" lang="zh-TW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預留未來公司簡介影片置入方式</a:t>
              </a:r>
              <a:r>
                <a: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)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</p:grpSp>
      <p:grpSp>
        <p:nvGrpSpPr>
          <p:cNvPr id="115" name="群組 114">
            <a:extLst>
              <a:ext uri="{FF2B5EF4-FFF2-40B4-BE49-F238E27FC236}">
                <a16:creationId xmlns:a16="http://schemas.microsoft.com/office/drawing/2014/main" id="{E63C589F-DDE9-4310-8CFE-5E9633EEC6A4}"/>
              </a:ext>
            </a:extLst>
          </p:cNvPr>
          <p:cNvGrpSpPr/>
          <p:nvPr/>
        </p:nvGrpSpPr>
        <p:grpSpPr>
          <a:xfrm>
            <a:off x="4052615" y="3316497"/>
            <a:ext cx="1620000" cy="530352"/>
            <a:chOff x="2808996" y="2612317"/>
            <a:chExt cx="1874520" cy="530352"/>
          </a:xfrm>
        </p:grpSpPr>
        <p:sp>
          <p:nvSpPr>
            <p:cNvPr id="10" name="Shape 8"/>
            <p:cNvSpPr/>
            <p:nvPr/>
          </p:nvSpPr>
          <p:spPr>
            <a:xfrm>
              <a:off x="2808996" y="2612317"/>
              <a:ext cx="1874520" cy="530352"/>
            </a:xfrm>
            <a:prstGeom prst="rect">
              <a:avLst/>
            </a:prstGeom>
            <a:solidFill>
              <a:srgbClr val="F1EFE8"/>
            </a:solidFill>
            <a:ln w="9525">
              <a:solidFill>
                <a:srgbClr val="4A4A48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1" name="Text 9"/>
            <p:cNvSpPr/>
            <p:nvPr/>
          </p:nvSpPr>
          <p:spPr>
            <a:xfrm>
              <a:off x="2854716" y="2612317"/>
              <a:ext cx="17830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組織架構</a:t>
              </a:r>
              <a:r>
                <a:rPr kumimoji="0" lang="zh-TW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→經營團隊</a:t>
              </a:r>
              <a:r>
                <a: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or</a:t>
              </a:r>
              <a:r>
                <a:rPr kumimoji="0" lang="zh-TW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公司組織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</p:grpSp>
      <p:grpSp>
        <p:nvGrpSpPr>
          <p:cNvPr id="114" name="群組 113">
            <a:extLst>
              <a:ext uri="{FF2B5EF4-FFF2-40B4-BE49-F238E27FC236}">
                <a16:creationId xmlns:a16="http://schemas.microsoft.com/office/drawing/2014/main" id="{CE4AB607-890E-4D37-9A47-A851F6C75F4F}"/>
              </a:ext>
            </a:extLst>
          </p:cNvPr>
          <p:cNvGrpSpPr/>
          <p:nvPr/>
        </p:nvGrpSpPr>
        <p:grpSpPr>
          <a:xfrm>
            <a:off x="4052615" y="4038336"/>
            <a:ext cx="1620000" cy="530352"/>
            <a:chOff x="2808996" y="3307261"/>
            <a:chExt cx="1874520" cy="530352"/>
          </a:xfrm>
        </p:grpSpPr>
        <p:sp>
          <p:nvSpPr>
            <p:cNvPr id="12" name="Shape 10"/>
            <p:cNvSpPr/>
            <p:nvPr/>
          </p:nvSpPr>
          <p:spPr>
            <a:xfrm>
              <a:off x="2808996" y="3307261"/>
              <a:ext cx="1874520" cy="530352"/>
            </a:xfrm>
            <a:prstGeom prst="rect">
              <a:avLst/>
            </a:prstGeom>
            <a:solidFill>
              <a:srgbClr val="F1EFE8"/>
            </a:solidFill>
            <a:ln w="9525">
              <a:solidFill>
                <a:srgbClr val="4A4A48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3" name="Text 11"/>
            <p:cNvSpPr/>
            <p:nvPr/>
          </p:nvSpPr>
          <p:spPr>
            <a:xfrm>
              <a:off x="2854716" y="3307261"/>
              <a:ext cx="17830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州巧里程碑</a:t>
              </a:r>
              <a:r>
                <a:rPr kumimoji="0" lang="zh-TW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→大事紀與獲獎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</p:grpSp>
      <p:grpSp>
        <p:nvGrpSpPr>
          <p:cNvPr id="112" name="群組 111">
            <a:extLst>
              <a:ext uri="{FF2B5EF4-FFF2-40B4-BE49-F238E27FC236}">
                <a16:creationId xmlns:a16="http://schemas.microsoft.com/office/drawing/2014/main" id="{563DFDD7-2B07-4E95-A083-AB1439D3734A}"/>
              </a:ext>
            </a:extLst>
          </p:cNvPr>
          <p:cNvGrpSpPr/>
          <p:nvPr/>
        </p:nvGrpSpPr>
        <p:grpSpPr>
          <a:xfrm>
            <a:off x="4052615" y="4736790"/>
            <a:ext cx="1620000" cy="530352"/>
            <a:chOff x="2808996" y="4002205"/>
            <a:chExt cx="1874520" cy="530352"/>
          </a:xfrm>
        </p:grpSpPr>
        <p:sp>
          <p:nvSpPr>
            <p:cNvPr id="14" name="Shape 12"/>
            <p:cNvSpPr/>
            <p:nvPr/>
          </p:nvSpPr>
          <p:spPr>
            <a:xfrm>
              <a:off x="2808996" y="4002205"/>
              <a:ext cx="1874520" cy="530352"/>
            </a:xfrm>
            <a:prstGeom prst="rect">
              <a:avLst/>
            </a:prstGeom>
            <a:solidFill>
              <a:srgbClr val="F1EFE8"/>
            </a:solidFill>
            <a:ln w="9525">
              <a:solidFill>
                <a:srgbClr val="4A4A48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5" name="Text 13"/>
            <p:cNvSpPr/>
            <p:nvPr/>
          </p:nvSpPr>
          <p:spPr>
            <a:xfrm>
              <a:off x="2854716" y="4002205"/>
              <a:ext cx="17830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營運據點</a:t>
              </a:r>
              <a:endPara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</p:grpSp>
      <p:grpSp>
        <p:nvGrpSpPr>
          <p:cNvPr id="113" name="群組 112">
            <a:extLst>
              <a:ext uri="{FF2B5EF4-FFF2-40B4-BE49-F238E27FC236}">
                <a16:creationId xmlns:a16="http://schemas.microsoft.com/office/drawing/2014/main" id="{471C49FA-DC7F-4B85-ACDF-B551D1F44EB8}"/>
              </a:ext>
            </a:extLst>
          </p:cNvPr>
          <p:cNvGrpSpPr/>
          <p:nvPr/>
        </p:nvGrpSpPr>
        <p:grpSpPr>
          <a:xfrm>
            <a:off x="10723131" y="829139"/>
            <a:ext cx="1404000" cy="530352"/>
            <a:chOff x="2808996" y="5392093"/>
            <a:chExt cx="1404000" cy="530352"/>
          </a:xfrm>
        </p:grpSpPr>
        <p:sp>
          <p:nvSpPr>
            <p:cNvPr id="18" name="Shape 16"/>
            <p:cNvSpPr/>
            <p:nvPr/>
          </p:nvSpPr>
          <p:spPr>
            <a:xfrm>
              <a:off x="2808996" y="5392093"/>
              <a:ext cx="1404000" cy="457200"/>
            </a:xfrm>
            <a:prstGeom prst="rect">
              <a:avLst/>
            </a:prstGeom>
            <a:solidFill>
              <a:srgbClr val="F1EFE8"/>
            </a:solidFill>
            <a:ln w="9525">
              <a:solidFill>
                <a:srgbClr val="4A4A48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9" name="Text 17"/>
            <p:cNvSpPr/>
            <p:nvPr/>
          </p:nvSpPr>
          <p:spPr>
            <a:xfrm>
              <a:off x="2854716" y="5392093"/>
              <a:ext cx="1352029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05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聯絡我們</a:t>
              </a:r>
              <a:r>
                <a:rPr kumimoji="0" lang="zh-TW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→</a:t>
              </a:r>
              <a:endParaRPr kumimoji="0" lang="en-US" altLang="zh-TW" sz="105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(</a:t>
              </a:r>
              <a:r>
                <a:rPr kumimoji="0" lang="zh-TW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加</a:t>
              </a:r>
              <a:r>
                <a:rPr kumimoji="0" lang="en-US" altLang="zh-TW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FAQ/</a:t>
              </a:r>
              <a:r>
                <a:rPr kumimoji="0" lang="zh-TW" altLang="en-US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故障碼查詢</a:t>
              </a:r>
              <a:r>
                <a:rPr kumimoji="0" lang="en-US" altLang="zh-TW" sz="1050" b="0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?)</a:t>
              </a:r>
              <a:endParaRPr kumimoji="0" lang="en-US" sz="105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</p:grpSp>
      <p:grpSp>
        <p:nvGrpSpPr>
          <p:cNvPr id="106" name="群組 105">
            <a:extLst>
              <a:ext uri="{FF2B5EF4-FFF2-40B4-BE49-F238E27FC236}">
                <a16:creationId xmlns:a16="http://schemas.microsoft.com/office/drawing/2014/main" id="{4036C585-C480-46FC-9ECB-9EE4162BFE21}"/>
              </a:ext>
            </a:extLst>
          </p:cNvPr>
          <p:cNvGrpSpPr/>
          <p:nvPr/>
        </p:nvGrpSpPr>
        <p:grpSpPr>
          <a:xfrm>
            <a:off x="700442" y="1354815"/>
            <a:ext cx="1620000" cy="3886200"/>
            <a:chOff x="2139696" y="1207008"/>
            <a:chExt cx="1620000" cy="3886200"/>
          </a:xfrm>
        </p:grpSpPr>
        <p:sp>
          <p:nvSpPr>
            <p:cNvPr id="20" name="Shape 18">
              <a:hlinkClick r:id="rId4" action="ppaction://hlinkfile"/>
            </p:cNvPr>
            <p:cNvSpPr/>
            <p:nvPr/>
          </p:nvSpPr>
          <p:spPr>
            <a:xfrm>
              <a:off x="2139696" y="1207008"/>
              <a:ext cx="1620000" cy="457200"/>
            </a:xfrm>
            <a:prstGeom prst="rect">
              <a:avLst/>
            </a:prstGeom>
            <a:solidFill>
              <a:srgbClr val="B34520"/>
            </a:solidFill>
            <a:ln w="12700">
              <a:solidFill>
                <a:srgbClr val="B3452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1" name="Text 19"/>
            <p:cNvSpPr/>
            <p:nvPr/>
          </p:nvSpPr>
          <p:spPr>
            <a:xfrm>
              <a:off x="2139696" y="1296303"/>
              <a:ext cx="1620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產品服務</a:t>
              </a:r>
              <a:r>
                <a:rPr kumimoji="0" lang="en-US" altLang="zh-TW" sz="11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創新研發</a:t>
              </a:r>
              <a:endPara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→解決方案</a:t>
              </a:r>
              <a:r>
                <a:rPr kumimoji="0" lang="en-US" altLang="zh-TW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(</a:t>
              </a:r>
              <a:r>
                <a:rPr kumimoji="0" lang="zh-TW" altLang="en-US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第二層順序待確認</a:t>
              </a:r>
              <a:r>
                <a:rPr kumimoji="0" lang="en-US" altLang="zh-TW" sz="8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)</a:t>
              </a: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22" name="Shape 20"/>
            <p:cNvSpPr/>
            <p:nvPr/>
          </p:nvSpPr>
          <p:spPr>
            <a:xfrm>
              <a:off x="2139696" y="1783080"/>
              <a:ext cx="1620000" cy="530352"/>
            </a:xfrm>
            <a:prstGeom prst="rect">
              <a:avLst/>
            </a:prstGeom>
            <a:solidFill>
              <a:srgbClr val="FAEEE9"/>
            </a:solidFill>
            <a:ln w="9525">
              <a:solidFill>
                <a:srgbClr val="B3452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3" name="Text 21"/>
            <p:cNvSpPr/>
            <p:nvPr/>
          </p:nvSpPr>
          <p:spPr>
            <a:xfrm>
              <a:off x="2185416" y="1783080"/>
              <a:ext cx="15742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6B1A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光電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24" name="Shape 22"/>
            <p:cNvSpPr/>
            <p:nvPr/>
          </p:nvSpPr>
          <p:spPr>
            <a:xfrm>
              <a:off x="2139696" y="2478024"/>
              <a:ext cx="1620000" cy="530352"/>
            </a:xfrm>
            <a:prstGeom prst="rect">
              <a:avLst/>
            </a:prstGeom>
            <a:solidFill>
              <a:srgbClr val="FAEEE9"/>
            </a:solidFill>
            <a:ln w="9525">
              <a:solidFill>
                <a:srgbClr val="B3452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5" name="Text 23"/>
            <p:cNvSpPr/>
            <p:nvPr/>
          </p:nvSpPr>
          <p:spPr>
            <a:xfrm>
              <a:off x="2185416" y="2478024"/>
              <a:ext cx="15742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6B1A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家居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26" name="Shape 24"/>
            <p:cNvSpPr/>
            <p:nvPr/>
          </p:nvSpPr>
          <p:spPr>
            <a:xfrm>
              <a:off x="2139696" y="3172968"/>
              <a:ext cx="1620000" cy="530352"/>
            </a:xfrm>
            <a:prstGeom prst="rect">
              <a:avLst/>
            </a:prstGeom>
            <a:solidFill>
              <a:srgbClr val="FAEEE9"/>
            </a:solidFill>
            <a:ln w="9525">
              <a:solidFill>
                <a:srgbClr val="B34520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27" name="Text 25"/>
            <p:cNvSpPr/>
            <p:nvPr/>
          </p:nvSpPr>
          <p:spPr>
            <a:xfrm>
              <a:off x="2185416" y="3172968"/>
              <a:ext cx="15742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prstClr val="black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醫療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30" name="Shape 28"/>
            <p:cNvSpPr/>
            <p:nvPr/>
          </p:nvSpPr>
          <p:spPr>
            <a:xfrm>
              <a:off x="2139696" y="3867912"/>
              <a:ext cx="1620000" cy="530352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DDDDD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1" name="Text 29"/>
            <p:cNvSpPr/>
            <p:nvPr/>
          </p:nvSpPr>
          <p:spPr>
            <a:xfrm>
              <a:off x="2185416" y="3867912"/>
              <a:ext cx="15742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100" b="1" i="1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伺服器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32" name="Shape 30"/>
            <p:cNvSpPr/>
            <p:nvPr/>
          </p:nvSpPr>
          <p:spPr>
            <a:xfrm>
              <a:off x="2139696" y="4562856"/>
              <a:ext cx="1620000" cy="530352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DDDDD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33" name="Text 31"/>
            <p:cNvSpPr/>
            <p:nvPr/>
          </p:nvSpPr>
          <p:spPr>
            <a:xfrm>
              <a:off x="2185416" y="4562856"/>
              <a:ext cx="15742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100" b="1" i="1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板金加工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</p:grpSp>
      <p:grpSp>
        <p:nvGrpSpPr>
          <p:cNvPr id="94" name="群組 93">
            <a:extLst>
              <a:ext uri="{FF2B5EF4-FFF2-40B4-BE49-F238E27FC236}">
                <a16:creationId xmlns:a16="http://schemas.microsoft.com/office/drawing/2014/main" id="{85E3DE5B-003D-4100-ABAB-CB84A2C6EDD3}"/>
              </a:ext>
            </a:extLst>
          </p:cNvPr>
          <p:cNvGrpSpPr/>
          <p:nvPr/>
        </p:nvGrpSpPr>
        <p:grpSpPr>
          <a:xfrm>
            <a:off x="10083923" y="5819196"/>
            <a:ext cx="1620000" cy="530352"/>
            <a:chOff x="1028700" y="5989320"/>
            <a:chExt cx="1874520" cy="530352"/>
          </a:xfrm>
        </p:grpSpPr>
        <p:sp>
          <p:nvSpPr>
            <p:cNvPr id="54" name="Shape 52"/>
            <p:cNvSpPr/>
            <p:nvPr/>
          </p:nvSpPr>
          <p:spPr>
            <a:xfrm>
              <a:off x="1028700" y="5989320"/>
              <a:ext cx="1874520" cy="530352"/>
            </a:xfrm>
            <a:prstGeom prst="rect">
              <a:avLst/>
            </a:prstGeom>
            <a:solidFill>
              <a:srgbClr val="EAF3DE"/>
            </a:solidFill>
            <a:ln w="9525">
              <a:solidFill>
                <a:srgbClr val="3B6D1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55" name="Text 53"/>
            <p:cNvSpPr/>
            <p:nvPr/>
          </p:nvSpPr>
          <p:spPr>
            <a:xfrm>
              <a:off x="1074420" y="5989320"/>
              <a:ext cx="17830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E3A06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品質檢測</a:t>
              </a:r>
              <a:endPara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</p:grpSp>
      <p:grpSp>
        <p:nvGrpSpPr>
          <p:cNvPr id="95" name="群組 94">
            <a:extLst>
              <a:ext uri="{FF2B5EF4-FFF2-40B4-BE49-F238E27FC236}">
                <a16:creationId xmlns:a16="http://schemas.microsoft.com/office/drawing/2014/main" id="{3FE87330-B3DA-40DF-A191-1C83D883BF0A}"/>
              </a:ext>
            </a:extLst>
          </p:cNvPr>
          <p:cNvGrpSpPr/>
          <p:nvPr/>
        </p:nvGrpSpPr>
        <p:grpSpPr>
          <a:xfrm>
            <a:off x="10083923" y="5199827"/>
            <a:ext cx="1620000" cy="530352"/>
            <a:chOff x="1028700" y="6684264"/>
            <a:chExt cx="1874520" cy="530352"/>
          </a:xfrm>
        </p:grpSpPr>
        <p:sp>
          <p:nvSpPr>
            <p:cNvPr id="56" name="Shape 54"/>
            <p:cNvSpPr/>
            <p:nvPr/>
          </p:nvSpPr>
          <p:spPr>
            <a:xfrm>
              <a:off x="1028700" y="6684264"/>
              <a:ext cx="1874520" cy="530352"/>
            </a:xfrm>
            <a:prstGeom prst="rect">
              <a:avLst/>
            </a:prstGeom>
            <a:solidFill>
              <a:srgbClr val="EAF3DE"/>
            </a:solidFill>
            <a:ln w="9525">
              <a:solidFill>
                <a:srgbClr val="3B6D1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57" name="Text 55"/>
            <p:cNvSpPr/>
            <p:nvPr/>
          </p:nvSpPr>
          <p:spPr>
            <a:xfrm>
              <a:off x="1074420" y="6684264"/>
              <a:ext cx="17830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950" b="0" i="0" u="none" strike="noStrike" kern="1200" cap="none" spc="0" normalizeH="0" baseline="0" noProof="0" dirty="0">
                  <a:ln>
                    <a:noFill/>
                  </a:ln>
                  <a:solidFill>
                    <a:srgbClr val="1E3A06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系統認證</a:t>
              </a:r>
              <a:endParaRPr kumimoji="0" lang="en-US" sz="95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</p:grpSp>
      <p:grpSp>
        <p:nvGrpSpPr>
          <p:cNvPr id="4" name="群組 3">
            <a:extLst>
              <a:ext uri="{FF2B5EF4-FFF2-40B4-BE49-F238E27FC236}">
                <a16:creationId xmlns:a16="http://schemas.microsoft.com/office/drawing/2014/main" id="{3B8D142E-5A62-4083-B57E-5BD5C218154C}"/>
              </a:ext>
            </a:extLst>
          </p:cNvPr>
          <p:cNvGrpSpPr/>
          <p:nvPr/>
        </p:nvGrpSpPr>
        <p:grpSpPr>
          <a:xfrm>
            <a:off x="9258301" y="844946"/>
            <a:ext cx="1404000" cy="3191256"/>
            <a:chOff x="8811261" y="946546"/>
            <a:chExt cx="1404000" cy="3191256"/>
          </a:xfrm>
        </p:grpSpPr>
        <p:sp>
          <p:nvSpPr>
            <p:cNvPr id="62" name="Shape 60">
              <a:hlinkClick r:id="rId5" action="ppaction://hlinkfile"/>
            </p:cNvPr>
            <p:cNvSpPr/>
            <p:nvPr/>
          </p:nvSpPr>
          <p:spPr>
            <a:xfrm>
              <a:off x="8811261" y="946546"/>
              <a:ext cx="1404000" cy="457200"/>
            </a:xfrm>
            <a:prstGeom prst="rect">
              <a:avLst/>
            </a:prstGeom>
            <a:solidFill>
              <a:srgbClr val="8A5309"/>
            </a:solidFill>
            <a:ln w="12700">
              <a:solidFill>
                <a:srgbClr val="8A5309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63" name="Text 61"/>
            <p:cNvSpPr/>
            <p:nvPr/>
          </p:nvSpPr>
          <p:spPr>
            <a:xfrm>
              <a:off x="8811261" y="946546"/>
              <a:ext cx="1404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 err="1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投資人專區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→投資人服務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64" name="Shape 62"/>
            <p:cNvSpPr/>
            <p:nvPr/>
          </p:nvSpPr>
          <p:spPr>
            <a:xfrm>
              <a:off x="8811261" y="1522618"/>
              <a:ext cx="1404000" cy="530352"/>
            </a:xfrm>
            <a:prstGeom prst="rect">
              <a:avLst/>
            </a:prstGeom>
            <a:solidFill>
              <a:srgbClr val="FAF0DA"/>
            </a:solidFill>
            <a:ln w="9525">
              <a:solidFill>
                <a:srgbClr val="8A5309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65" name="Text 63"/>
            <p:cNvSpPr/>
            <p:nvPr/>
          </p:nvSpPr>
          <p:spPr>
            <a:xfrm>
              <a:off x="8856981" y="1522618"/>
              <a:ext cx="13582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4A23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財務資訊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66" name="Shape 64"/>
            <p:cNvSpPr/>
            <p:nvPr/>
          </p:nvSpPr>
          <p:spPr>
            <a:xfrm>
              <a:off x="8811261" y="2217562"/>
              <a:ext cx="1404000" cy="530352"/>
            </a:xfrm>
            <a:prstGeom prst="rect">
              <a:avLst/>
            </a:prstGeom>
            <a:solidFill>
              <a:srgbClr val="FAF0DA"/>
            </a:solidFill>
            <a:ln w="9525">
              <a:solidFill>
                <a:srgbClr val="8A5309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67" name="Text 65"/>
            <p:cNvSpPr/>
            <p:nvPr/>
          </p:nvSpPr>
          <p:spPr>
            <a:xfrm>
              <a:off x="8856981" y="2217562"/>
              <a:ext cx="13582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4A23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股東專欄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23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→股東專區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68" name="Shape 66"/>
            <p:cNvSpPr/>
            <p:nvPr/>
          </p:nvSpPr>
          <p:spPr>
            <a:xfrm>
              <a:off x="8811261" y="2912506"/>
              <a:ext cx="1404000" cy="530352"/>
            </a:xfrm>
            <a:prstGeom prst="rect">
              <a:avLst/>
            </a:prstGeom>
            <a:solidFill>
              <a:srgbClr val="FAF0DA"/>
            </a:solidFill>
            <a:ln w="9525">
              <a:solidFill>
                <a:srgbClr val="8A5309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69" name="Text 67"/>
            <p:cNvSpPr/>
            <p:nvPr/>
          </p:nvSpPr>
          <p:spPr>
            <a:xfrm>
              <a:off x="8856981" y="2912506"/>
              <a:ext cx="13582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4A2300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公司治理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A2300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chemeClr val="accent1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→公司治理專區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chemeClr val="accent1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70" name="Shape 68"/>
            <p:cNvSpPr/>
            <p:nvPr/>
          </p:nvSpPr>
          <p:spPr>
            <a:xfrm>
              <a:off x="8811261" y="3607450"/>
              <a:ext cx="1404000" cy="530352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DDDDD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71" name="Text 69"/>
            <p:cNvSpPr/>
            <p:nvPr/>
          </p:nvSpPr>
          <p:spPr>
            <a:xfrm>
              <a:off x="8856981" y="3607450"/>
              <a:ext cx="13582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100" b="1" i="1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法人說明會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</p:grpSp>
      <p:grpSp>
        <p:nvGrpSpPr>
          <p:cNvPr id="5" name="群組 4">
            <a:extLst>
              <a:ext uri="{FF2B5EF4-FFF2-40B4-BE49-F238E27FC236}">
                <a16:creationId xmlns:a16="http://schemas.microsoft.com/office/drawing/2014/main" id="{89CF8A7A-8D20-4336-AB99-FC77F72888D4}"/>
              </a:ext>
            </a:extLst>
          </p:cNvPr>
          <p:cNvGrpSpPr/>
          <p:nvPr/>
        </p:nvGrpSpPr>
        <p:grpSpPr>
          <a:xfrm>
            <a:off x="7720706" y="844946"/>
            <a:ext cx="1404000" cy="2496312"/>
            <a:chOff x="6897746" y="946546"/>
            <a:chExt cx="1404000" cy="2496312"/>
          </a:xfrm>
        </p:grpSpPr>
        <p:sp>
          <p:nvSpPr>
            <p:cNvPr id="76" name="Shape 74">
              <a:hlinkClick r:id="rId3" action="ppaction://hlinkpres?slideindex=1&amp;slidetitle="/>
            </p:cNvPr>
            <p:cNvSpPr/>
            <p:nvPr/>
          </p:nvSpPr>
          <p:spPr>
            <a:xfrm>
              <a:off x="6897746" y="946546"/>
              <a:ext cx="1404000" cy="457200"/>
            </a:xfrm>
            <a:prstGeom prst="rect">
              <a:avLst/>
            </a:prstGeom>
            <a:solidFill>
              <a:srgbClr val="9C3358"/>
            </a:solidFill>
            <a:ln w="12700">
              <a:solidFill>
                <a:srgbClr val="9C3358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77" name="Text 75"/>
            <p:cNvSpPr/>
            <p:nvPr/>
          </p:nvSpPr>
          <p:spPr>
            <a:xfrm>
              <a:off x="6897746" y="946546"/>
              <a:ext cx="1404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人力資源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78" name="Shape 76"/>
            <p:cNvSpPr/>
            <p:nvPr/>
          </p:nvSpPr>
          <p:spPr>
            <a:xfrm>
              <a:off x="6897746" y="1522618"/>
              <a:ext cx="1404000" cy="530352"/>
            </a:xfrm>
            <a:prstGeom prst="rect">
              <a:avLst/>
            </a:prstGeom>
            <a:solidFill>
              <a:srgbClr val="FBEAF0"/>
            </a:solidFill>
            <a:ln w="9525">
              <a:solidFill>
                <a:srgbClr val="9C3358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79" name="Text 77"/>
            <p:cNvSpPr/>
            <p:nvPr/>
          </p:nvSpPr>
          <p:spPr>
            <a:xfrm>
              <a:off x="6943466" y="1522618"/>
              <a:ext cx="13582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A0C2C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選擇州巧</a:t>
              </a:r>
              <a:r>
                <a:rPr kumimoji="0" lang="zh-TW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5A0C2C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、</a:t>
              </a:r>
              <a:r>
                <a:rPr kumimoji="0" lang="en-US" altLang="zh-TW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A0C2C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志同道合</a:t>
              </a:r>
              <a:r>
                <a:rPr kumimoji="0" lang="zh-TW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5A0C2C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、</a:t>
              </a:r>
              <a:r>
                <a:rPr kumimoji="0" lang="en-US" altLang="zh-TW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A0C2C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人才職缺</a:t>
              </a:r>
              <a:r>
                <a:rPr kumimoji="0" lang="zh-TW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→加入州巧</a:t>
              </a:r>
              <a:endParaRPr kumimoji="0" 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80" name="Shape 78"/>
            <p:cNvSpPr/>
            <p:nvPr/>
          </p:nvSpPr>
          <p:spPr>
            <a:xfrm>
              <a:off x="6897746" y="2217562"/>
              <a:ext cx="1404000" cy="530352"/>
            </a:xfrm>
            <a:prstGeom prst="rect">
              <a:avLst/>
            </a:prstGeom>
            <a:solidFill>
              <a:srgbClr val="FBEAF0"/>
            </a:solidFill>
            <a:ln w="9525">
              <a:solidFill>
                <a:srgbClr val="9C3358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81" name="Text 79"/>
            <p:cNvSpPr/>
            <p:nvPr/>
          </p:nvSpPr>
          <p:spPr>
            <a:xfrm>
              <a:off x="6943466" y="2217562"/>
              <a:ext cx="13582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A0C2C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福利措施</a:t>
              </a:r>
              <a:endPara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5A0C2C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→州巧生活</a:t>
              </a:r>
              <a:endPara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sp>
          <p:nvSpPr>
            <p:cNvPr id="82" name="Shape 80"/>
            <p:cNvSpPr/>
            <p:nvPr/>
          </p:nvSpPr>
          <p:spPr>
            <a:xfrm>
              <a:off x="6897746" y="2912506"/>
              <a:ext cx="1404000" cy="530352"/>
            </a:xfrm>
            <a:prstGeom prst="rect">
              <a:avLst/>
            </a:prstGeom>
            <a:solidFill>
              <a:srgbClr val="FBEAF0"/>
            </a:solidFill>
            <a:ln w="9525">
              <a:solidFill>
                <a:srgbClr val="9C3358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83" name="Text 81"/>
            <p:cNvSpPr/>
            <p:nvPr/>
          </p:nvSpPr>
          <p:spPr>
            <a:xfrm>
              <a:off x="6943466" y="2912506"/>
              <a:ext cx="13582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0" i="0" u="none" strike="noStrike" kern="1200" cap="none" spc="0" normalizeH="0" baseline="0" noProof="0" dirty="0" err="1">
                  <a:ln>
                    <a:noFill/>
                  </a:ln>
                  <a:solidFill>
                    <a:srgbClr val="5A0C2C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職涯發展</a:t>
              </a:r>
              <a:endParaRPr kumimoji="0" lang="en-US" altLang="zh-TW" sz="1100" b="0" i="0" u="none" strike="noStrike" kern="1200" cap="none" spc="0" normalizeH="0" baseline="0" noProof="0" dirty="0">
                <a:ln>
                  <a:noFill/>
                </a:ln>
                <a:solidFill>
                  <a:srgbClr val="5A0C2C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→學習成長</a:t>
              </a:r>
              <a:endPara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</p:grpSp>
      <p:grpSp>
        <p:nvGrpSpPr>
          <p:cNvPr id="111" name="群組 110">
            <a:extLst>
              <a:ext uri="{FF2B5EF4-FFF2-40B4-BE49-F238E27FC236}">
                <a16:creationId xmlns:a16="http://schemas.microsoft.com/office/drawing/2014/main" id="{54B754EF-64C8-4939-B964-43230FBE6977}"/>
              </a:ext>
            </a:extLst>
          </p:cNvPr>
          <p:cNvGrpSpPr/>
          <p:nvPr/>
        </p:nvGrpSpPr>
        <p:grpSpPr>
          <a:xfrm>
            <a:off x="4861650" y="751835"/>
            <a:ext cx="1906791" cy="475488"/>
            <a:chOff x="5855296" y="742633"/>
            <a:chExt cx="1906791" cy="475488"/>
          </a:xfrm>
        </p:grpSpPr>
        <p:sp>
          <p:nvSpPr>
            <p:cNvPr id="97" name="Shape 3">
              <a:extLst>
                <a:ext uri="{FF2B5EF4-FFF2-40B4-BE49-F238E27FC236}">
                  <a16:creationId xmlns:a16="http://schemas.microsoft.com/office/drawing/2014/main" id="{9AF88A39-BB8E-455B-BE35-4DC4BAD87763}"/>
                </a:ext>
              </a:extLst>
            </p:cNvPr>
            <p:cNvSpPr/>
            <p:nvPr/>
          </p:nvSpPr>
          <p:spPr>
            <a:xfrm>
              <a:off x="5855297" y="742633"/>
              <a:ext cx="1828800" cy="475488"/>
            </a:xfrm>
            <a:prstGeom prst="rect">
              <a:avLst/>
            </a:prstGeom>
            <a:solidFill>
              <a:srgbClr val="534AB7"/>
            </a:solidFill>
            <a:ln w="12700">
              <a:solidFill>
                <a:srgbClr val="534AB7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98" name="Text 4">
              <a:extLst>
                <a:ext uri="{FF2B5EF4-FFF2-40B4-BE49-F238E27FC236}">
                  <a16:creationId xmlns:a16="http://schemas.microsoft.com/office/drawing/2014/main" id="{8BF0EECC-BB7A-450A-AF02-81AFFA611D6E}"/>
                </a:ext>
              </a:extLst>
            </p:cNvPr>
            <p:cNvSpPr/>
            <p:nvPr/>
          </p:nvSpPr>
          <p:spPr>
            <a:xfrm>
              <a:off x="5855296" y="742633"/>
              <a:ext cx="1906791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FFFFFF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州巧科技 jochu.com</a:t>
              </a:r>
              <a:r>
                <a: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(</a:t>
              </a:r>
              <a:r>
                <a:rPr kumimoji="0" lang="zh-TW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導覽頁</a:t>
              </a:r>
              <a:r>
                <a: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)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20000"/>
                    <a:lumOff val="8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</p:grpSp>
      <p:grpSp>
        <p:nvGrpSpPr>
          <p:cNvPr id="117" name="群組 116">
            <a:extLst>
              <a:ext uri="{FF2B5EF4-FFF2-40B4-BE49-F238E27FC236}">
                <a16:creationId xmlns:a16="http://schemas.microsoft.com/office/drawing/2014/main" id="{490ACA38-39AA-48FB-9DE5-55BE3A00589F}"/>
              </a:ext>
            </a:extLst>
          </p:cNvPr>
          <p:cNvGrpSpPr/>
          <p:nvPr/>
        </p:nvGrpSpPr>
        <p:grpSpPr>
          <a:xfrm>
            <a:off x="4064633" y="2609359"/>
            <a:ext cx="1620000" cy="530352"/>
            <a:chOff x="2808996" y="2612317"/>
            <a:chExt cx="1874520" cy="530352"/>
          </a:xfrm>
        </p:grpSpPr>
        <p:sp>
          <p:nvSpPr>
            <p:cNvPr id="118" name="Shape 8">
              <a:extLst>
                <a:ext uri="{FF2B5EF4-FFF2-40B4-BE49-F238E27FC236}">
                  <a16:creationId xmlns:a16="http://schemas.microsoft.com/office/drawing/2014/main" id="{18096923-B24F-4DC4-AB0A-2D39AB0BC92E}"/>
                </a:ext>
              </a:extLst>
            </p:cNvPr>
            <p:cNvSpPr/>
            <p:nvPr/>
          </p:nvSpPr>
          <p:spPr>
            <a:xfrm>
              <a:off x="2808996" y="2612317"/>
              <a:ext cx="1874520" cy="530352"/>
            </a:xfrm>
            <a:prstGeom prst="rect">
              <a:avLst/>
            </a:prstGeom>
            <a:solidFill>
              <a:srgbClr val="F1EFE8"/>
            </a:solidFill>
            <a:ln w="9525">
              <a:solidFill>
                <a:srgbClr val="4A4A48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19" name="Text 9">
              <a:extLst>
                <a:ext uri="{FF2B5EF4-FFF2-40B4-BE49-F238E27FC236}">
                  <a16:creationId xmlns:a16="http://schemas.microsoft.com/office/drawing/2014/main" id="{71861D57-126E-4838-8DD7-F197B8AE1957}"/>
                </a:ext>
              </a:extLst>
            </p:cNvPr>
            <p:cNvSpPr/>
            <p:nvPr/>
          </p:nvSpPr>
          <p:spPr>
            <a:xfrm>
              <a:off x="2854716" y="2612317"/>
              <a:ext cx="1783080" cy="530352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100" b="0" i="0" u="none" strike="noStrike" kern="1200" cap="none" spc="0" normalizeH="0" baseline="0" noProof="0" dirty="0">
                  <a:ln>
                    <a:noFill/>
                  </a:ln>
                  <a:solidFill>
                    <a:srgbClr val="333333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經營理念</a:t>
              </a:r>
              <a:r>
                <a: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(MI</a:t>
              </a:r>
              <a:r>
                <a:rPr kumimoji="0" lang="zh-TW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；</a:t>
              </a:r>
              <a:r>
                <a: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BI</a:t>
              </a:r>
              <a:r>
                <a:rPr kumimoji="0" lang="zh-TW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；</a:t>
              </a:r>
              <a:r>
                <a: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/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VI)</a:t>
              </a:r>
              <a:endParaRPr kumimoji="0" lang="en-US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</p:grpSp>
      <p:grpSp>
        <p:nvGrpSpPr>
          <p:cNvPr id="16" name="群組 15">
            <a:extLst>
              <a:ext uri="{FF2B5EF4-FFF2-40B4-BE49-F238E27FC236}">
                <a16:creationId xmlns:a16="http://schemas.microsoft.com/office/drawing/2014/main" id="{D1B5DB3A-8ED2-4E5F-844D-84E2A2D522C5}"/>
              </a:ext>
            </a:extLst>
          </p:cNvPr>
          <p:cNvGrpSpPr/>
          <p:nvPr/>
        </p:nvGrpSpPr>
        <p:grpSpPr>
          <a:xfrm>
            <a:off x="5832149" y="1343608"/>
            <a:ext cx="1646275" cy="4104329"/>
            <a:chOff x="5628949" y="1343608"/>
            <a:chExt cx="1646275" cy="4104329"/>
          </a:xfrm>
        </p:grpSpPr>
        <p:sp>
          <p:nvSpPr>
            <p:cNvPr id="72" name="Shape 70"/>
            <p:cNvSpPr/>
            <p:nvPr/>
          </p:nvSpPr>
          <p:spPr>
            <a:xfrm>
              <a:off x="5628949" y="1907959"/>
              <a:ext cx="1620000" cy="3539978"/>
            </a:xfrm>
            <a:prstGeom prst="rect">
              <a:avLst/>
            </a:prstGeom>
            <a:solidFill>
              <a:srgbClr val="FAFAFA"/>
            </a:solidFill>
            <a:ln w="6350">
              <a:solidFill>
                <a:srgbClr val="DDDDDD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07" name="Shape 46">
              <a:hlinkClick r:id="rId6" action="ppaction://hlinkpres?slideindex=1&amp;slidetitle="/>
              <a:extLst>
                <a:ext uri="{FF2B5EF4-FFF2-40B4-BE49-F238E27FC236}">
                  <a16:creationId xmlns:a16="http://schemas.microsoft.com/office/drawing/2014/main" id="{27496DD8-E618-40C4-B686-1FF4FCAAA4DC}"/>
                </a:ext>
              </a:extLst>
            </p:cNvPr>
            <p:cNvSpPr/>
            <p:nvPr/>
          </p:nvSpPr>
          <p:spPr>
            <a:xfrm>
              <a:off x="5632098" y="1343608"/>
              <a:ext cx="1620000" cy="457200"/>
            </a:xfrm>
            <a:prstGeom prst="rect">
              <a:avLst/>
            </a:prstGeom>
            <a:solidFill>
              <a:srgbClr val="3B6D11"/>
            </a:solidFill>
            <a:ln w="12700">
              <a:solidFill>
                <a:srgbClr val="3B6D11"/>
              </a:solidFill>
              <a:prstDash val="solid"/>
            </a:ln>
            <a:effectLst>
              <a:outerShdw blurRad="63500" dist="25400" dir="8100000" algn="bl" rotWithShape="0">
                <a:srgbClr val="000000">
                  <a:alpha val="10000"/>
                </a:srgbClr>
              </a:outerShdw>
            </a:effectLst>
          </p:spPr>
        </p:sp>
        <p:sp>
          <p:nvSpPr>
            <p:cNvPr id="108" name="Text 47">
              <a:extLst>
                <a:ext uri="{FF2B5EF4-FFF2-40B4-BE49-F238E27FC236}">
                  <a16:creationId xmlns:a16="http://schemas.microsoft.com/office/drawing/2014/main" id="{FC8DECF7-83A4-419A-9211-AA3071DB99C9}"/>
                </a:ext>
              </a:extLst>
            </p:cNvPr>
            <p:cNvSpPr/>
            <p:nvPr/>
          </p:nvSpPr>
          <p:spPr>
            <a:xfrm>
              <a:off x="5655224" y="1343608"/>
              <a:ext cx="1620000" cy="457200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zh-TW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企業永續</a:t>
              </a:r>
              <a:r>
                <a: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or</a:t>
              </a:r>
              <a:r>
                <a:rPr kumimoji="0" lang="zh-TW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永續發展</a:t>
              </a:r>
              <a:endParaRPr kumimoji="0" lang="en-US" altLang="zh-TW" sz="1100" b="1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20000"/>
                    <a:lumOff val="8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  <a:p>
              <a:pPr marL="0" marR="0" lvl="0" indent="0" algn="ct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r>
                <a: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(</a:t>
              </a:r>
              <a:r>
                <a:rPr kumimoji="0" lang="zh-TW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從</a:t>
              </a:r>
              <a:r>
                <a: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L2</a:t>
              </a:r>
              <a:r>
                <a:rPr kumimoji="0" lang="zh-TW" altLang="en-US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拉到</a:t>
              </a:r>
              <a:r>
                <a:rPr kumimoji="0" lang="en-US" altLang="zh-TW" sz="1100" b="1" i="0" u="none" strike="noStrike" kern="1200" cap="none" spc="0" normalizeH="0" baseline="0" noProof="0" dirty="0">
                  <a:ln>
                    <a:noFill/>
                  </a:ln>
                  <a:solidFill>
                    <a:srgbClr val="4472C4">
                      <a:lumMod val="20000"/>
                      <a:lumOff val="80000"/>
                    </a:srgbClr>
                  </a:solidFill>
                  <a:effectLst/>
                  <a:uLnTx/>
                  <a:uFillTx/>
                  <a:latin typeface="微軟正黑體" panose="020B0604030504040204" pitchFamily="34" charset="-120"/>
                  <a:ea typeface="微軟正黑體" panose="020B0604030504040204" pitchFamily="34" charset="-120"/>
                  <a:cs typeface="+mn-cs"/>
                </a:rPr>
                <a:t>L1)</a:t>
              </a:r>
              <a:endParaRPr kumimoji="0" lang="en-US" sz="1100" b="0" i="0" u="none" strike="noStrike" kern="1200" cap="none" spc="0" normalizeH="0" baseline="0" noProof="0" dirty="0">
                <a:ln>
                  <a:noFill/>
                </a:ln>
                <a:solidFill>
                  <a:srgbClr val="4472C4">
                    <a:lumMod val="20000"/>
                    <a:lumOff val="80000"/>
                  </a:srgbClr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endParaRPr>
            </a:p>
          </p:txBody>
        </p:sp>
        <p:pic>
          <p:nvPicPr>
            <p:cNvPr id="121" name="圖片 120">
              <a:extLst>
                <a:ext uri="{FF2B5EF4-FFF2-40B4-BE49-F238E27FC236}">
                  <a16:creationId xmlns:a16="http://schemas.microsoft.com/office/drawing/2014/main" id="{C7792B66-2E57-4429-8C16-3D561EB79B39}"/>
                </a:ext>
              </a:extLst>
            </p:cNvPr>
            <p:cNvPicPr>
              <a:picLocks noChangeAspect="1"/>
            </p:cNvPicPr>
            <p:nvPr/>
          </p:nvPicPr>
          <p:blipFill rotWithShape="1">
            <a:blip r:embed="rId7"/>
            <a:srcRect r="24525"/>
            <a:stretch/>
          </p:blipFill>
          <p:spPr>
            <a:xfrm>
              <a:off x="5726875" y="1919476"/>
              <a:ext cx="1364806" cy="3334251"/>
            </a:xfrm>
            <a:prstGeom prst="rect">
              <a:avLst/>
            </a:prstGeom>
          </p:spPr>
        </p:pic>
      </p:grpSp>
      <p:sp>
        <p:nvSpPr>
          <p:cNvPr id="123" name="文字方塊 122">
            <a:extLst>
              <a:ext uri="{FF2B5EF4-FFF2-40B4-BE49-F238E27FC236}">
                <a16:creationId xmlns:a16="http://schemas.microsoft.com/office/drawing/2014/main" id="{0D3B1636-464F-4DE7-96AA-66D85FB4ED8D}"/>
              </a:ext>
            </a:extLst>
          </p:cNvPr>
          <p:cNvSpPr txBox="1"/>
          <p:nvPr/>
        </p:nvSpPr>
        <p:spPr>
          <a:xfrm>
            <a:off x="767298" y="5528846"/>
            <a:ext cx="8906647" cy="95410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R="0" lvl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tabLst/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要項說明</a:t>
            </a:r>
            <a:endParaRPr kumimoji="0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架構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-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整體排列順序、主選單及頂部工具列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(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人力資源；投資人專區；聯絡我們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)</a:t>
            </a:r>
            <a:r>
              <a:rPr lang="zh-TW" altLang="en-US" sz="14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位置及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名稱可能再變更</a:t>
            </a:r>
            <a:endParaRPr kumimoji="0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4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重點</a:t>
            </a:r>
            <a:r>
              <a:rPr lang="en-US" altLang="zh-TW" sz="14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4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符合新</a:t>
            </a:r>
            <a:r>
              <a:rPr lang="en-US" altLang="zh-TW" sz="14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CIS</a:t>
            </a:r>
            <a:r>
              <a:rPr lang="zh-TW" altLang="en-US" sz="14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意象；美觀、舒服、流暢；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語系含繁中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/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簡中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/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英</a:t>
            </a:r>
            <a:r>
              <a:rPr kumimoji="0" lang="en-US" altLang="zh-TW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/</a:t>
            </a:r>
            <a:r>
              <a:rPr kumimoji="0" lang="zh-TW" altLang="en-US" sz="1400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日；要有後台管理</a:t>
            </a:r>
            <a:endParaRPr kumimoji="0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  <a:p>
            <a:pPr marL="285750" marR="0" lvl="0" indent="-28575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zh-TW" altLang="en-US" sz="14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其他</a:t>
            </a:r>
            <a:r>
              <a:rPr lang="en-US" altLang="zh-TW" sz="14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-</a:t>
            </a:r>
            <a:r>
              <a:rPr lang="zh-TW" altLang="en-US" sz="14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圖片可購買；時程、費用及</a:t>
            </a:r>
            <a:r>
              <a:rPr lang="en-US" altLang="zh-TW" sz="14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AI</a:t>
            </a:r>
            <a:r>
              <a:rPr lang="zh-TW" altLang="en-US" sz="14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的影響；</a:t>
            </a:r>
            <a:r>
              <a:rPr lang="en-US" altLang="zh-TW" sz="14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VIS-</a:t>
            </a:r>
            <a:r>
              <a:rPr lang="zh-TW" altLang="en-US" sz="1400" b="1" dirty="0">
                <a:solidFill>
                  <a:prstClr val="black"/>
                </a:solidFill>
                <a:latin typeface="微軟正黑體" panose="020B0604030504040204" pitchFamily="34" charset="-120"/>
                <a:ea typeface="微軟正黑體" panose="020B0604030504040204" pitchFamily="34" charset="-120"/>
              </a:rPr>
              <a:t>影片拍攝、簡報公版需求</a:t>
            </a:r>
            <a:endParaRPr kumimoji="0" lang="en-US" altLang="zh-TW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25" name="文字方塊 124">
            <a:extLst>
              <a:ext uri="{FF2B5EF4-FFF2-40B4-BE49-F238E27FC236}">
                <a16:creationId xmlns:a16="http://schemas.microsoft.com/office/drawing/2014/main" id="{040A5BB1-FC40-47F2-B939-BF158FBF4D5E}"/>
              </a:ext>
            </a:extLst>
          </p:cNvPr>
          <p:cNvSpPr txBox="1"/>
          <p:nvPr/>
        </p:nvSpPr>
        <p:spPr>
          <a:xfrm>
            <a:off x="182880" y="906129"/>
            <a:ext cx="4737441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導覽頁強調我們是</a:t>
            </a:r>
            <a:r>
              <a:rPr kumimoji="0" lang="zh-TW" altLang="en-US" sz="1600" b="1" i="0" u="none" strike="noStrike" kern="1200" cap="none" spc="0" normalizeH="0" baseline="0" noProof="0" dirty="0">
                <a:ln>
                  <a:noFill/>
                </a:ln>
                <a:solidFill>
                  <a:srgbClr val="4472C4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「金屬應用與智慧製造的系統整合者」</a:t>
            </a:r>
            <a:endParaRPr kumimoji="0" lang="en-US" altLang="zh-TW" sz="1200" b="1" i="0" u="none" strike="noStrike" kern="1200" cap="none" spc="0" normalizeH="0" baseline="0" noProof="0" dirty="0">
              <a:ln>
                <a:noFill/>
              </a:ln>
              <a:solidFill>
                <a:srgbClr val="4472C4"/>
              </a:solidFill>
              <a:effectLst/>
              <a:uLnTx/>
              <a:uFillTx/>
              <a:latin typeface="微軟正黑體" panose="020B0604030504040204" pitchFamily="34" charset="-120"/>
              <a:ea typeface="微軟正黑體" panose="020B0604030504040204" pitchFamily="34" charset="-120"/>
              <a:cs typeface="+mn-cs"/>
            </a:endParaRPr>
          </a:p>
        </p:txBody>
      </p:sp>
      <p:sp>
        <p:nvSpPr>
          <p:cNvPr id="127" name="文字方塊 126">
            <a:extLst>
              <a:ext uri="{FF2B5EF4-FFF2-40B4-BE49-F238E27FC236}">
                <a16:creationId xmlns:a16="http://schemas.microsoft.com/office/drawing/2014/main" id="{1E043A6C-2643-4DEE-BA6F-27D895D0738E}"/>
              </a:ext>
            </a:extLst>
          </p:cNvPr>
          <p:cNvSpPr txBox="1"/>
          <p:nvPr/>
        </p:nvSpPr>
        <p:spPr>
          <a:xfrm>
            <a:off x="8255449" y="241909"/>
            <a:ext cx="401574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TW" altLang="en-US" sz="16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投資人股東</a:t>
            </a:r>
            <a:r>
              <a:rPr kumimoji="0" lang="en-US" altLang="zh-TW" sz="16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/</a:t>
            </a:r>
            <a:r>
              <a:rPr kumimoji="0" lang="zh-TW" altLang="en-US" sz="16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客戶及潛在客戶</a:t>
            </a:r>
            <a:r>
              <a:rPr kumimoji="0" lang="en-US" altLang="zh-TW" sz="16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/</a:t>
            </a:r>
            <a:r>
              <a:rPr kumimoji="0" lang="zh-TW" altLang="en-US" sz="16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求職者</a:t>
            </a:r>
            <a:r>
              <a:rPr kumimoji="0" lang="en-US" altLang="zh-TW" sz="16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/</a:t>
            </a:r>
            <a:r>
              <a:rPr kumimoji="0" lang="zh-TW" altLang="en-US" sz="1600" b="1" i="0" u="sng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軟正黑體" panose="020B0604030504040204" pitchFamily="34" charset="-120"/>
                <a:ea typeface="微軟正黑體" panose="020B0604030504040204" pitchFamily="34" charset="-120"/>
                <a:cs typeface="+mn-cs"/>
              </a:rPr>
              <a:t>法遵</a:t>
            </a:r>
          </a:p>
        </p:txBody>
      </p:sp>
      <p:sp>
        <p:nvSpPr>
          <p:cNvPr id="84" name="Shape 56">
            <a:extLst>
              <a:ext uri="{FF2B5EF4-FFF2-40B4-BE49-F238E27FC236}">
                <a16:creationId xmlns:a16="http://schemas.microsoft.com/office/drawing/2014/main" id="{3840D23C-79F5-4F97-956E-0E83EB38D597}"/>
              </a:ext>
            </a:extLst>
          </p:cNvPr>
          <p:cNvSpPr/>
          <p:nvPr/>
        </p:nvSpPr>
        <p:spPr>
          <a:xfrm>
            <a:off x="2467418" y="1364161"/>
            <a:ext cx="1440000" cy="438912"/>
          </a:xfrm>
          <a:prstGeom prst="rect">
            <a:avLst/>
          </a:prstGeom>
          <a:solidFill>
            <a:srgbClr val="1A5FA8"/>
          </a:solidFill>
          <a:ln w="12700">
            <a:solidFill>
              <a:srgbClr val="1A5FA8"/>
            </a:solidFill>
            <a:prstDash val="solid"/>
          </a:ln>
          <a:effectLst>
            <a:outerShdw blurRad="63500" dist="25400" dir="8100000" algn="bl" rotWithShape="0">
              <a:srgbClr val="000000">
                <a:alpha val="10000"/>
              </a:srgbClr>
            </a:outerShdw>
          </a:effectLst>
        </p:spPr>
      </p:sp>
      <p:sp>
        <p:nvSpPr>
          <p:cNvPr id="85" name="Text 57">
            <a:extLst>
              <a:ext uri="{FF2B5EF4-FFF2-40B4-BE49-F238E27FC236}">
                <a16:creationId xmlns:a16="http://schemas.microsoft.com/office/drawing/2014/main" id="{EC73FFB0-C7F6-412C-A3EA-A45B947B85D6}"/>
              </a:ext>
            </a:extLst>
          </p:cNvPr>
          <p:cNvSpPr/>
          <p:nvPr/>
        </p:nvSpPr>
        <p:spPr>
          <a:xfrm>
            <a:off x="2508059" y="1364161"/>
            <a:ext cx="139936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zh-TW" altLang="en-US" sz="1100" b="1" dirty="0">
                <a:solidFill>
                  <a:srgbClr val="FFFFFF"/>
                </a:solidFill>
              </a:rPr>
              <a:t>核心能力</a:t>
            </a:r>
            <a:endParaRPr lang="en-US" sz="1100" dirty="0"/>
          </a:p>
        </p:txBody>
      </p:sp>
      <p:sp>
        <p:nvSpPr>
          <p:cNvPr id="86" name="文字方塊 85">
            <a:extLst>
              <a:ext uri="{FF2B5EF4-FFF2-40B4-BE49-F238E27FC236}">
                <a16:creationId xmlns:a16="http://schemas.microsoft.com/office/drawing/2014/main" id="{53575B50-63F3-43D8-BEAA-638EB65BFB58}"/>
              </a:ext>
            </a:extLst>
          </p:cNvPr>
          <p:cNvSpPr txBox="1"/>
          <p:nvPr/>
        </p:nvSpPr>
        <p:spPr>
          <a:xfrm>
            <a:off x="2504327" y="1915794"/>
            <a:ext cx="1319243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TW" altLang="en-US" sz="1200" dirty="0">
                <a:solidFill>
                  <a:schemeClr val="accent1"/>
                </a:solidFill>
              </a:rPr>
              <a:t>解決方案再獨立拉出”技術能力頁面”，彼此串連</a:t>
            </a:r>
          </a:p>
        </p:txBody>
      </p:sp>
      <p:sp>
        <p:nvSpPr>
          <p:cNvPr id="28" name="箭號: 左-右雙向 27">
            <a:extLst>
              <a:ext uri="{FF2B5EF4-FFF2-40B4-BE49-F238E27FC236}">
                <a16:creationId xmlns:a16="http://schemas.microsoft.com/office/drawing/2014/main" id="{5F7B82A4-6129-47E1-9229-78130AA2B518}"/>
              </a:ext>
            </a:extLst>
          </p:cNvPr>
          <p:cNvSpPr/>
          <p:nvPr/>
        </p:nvSpPr>
        <p:spPr>
          <a:xfrm>
            <a:off x="2180009" y="1397773"/>
            <a:ext cx="480855" cy="363716"/>
          </a:xfrm>
          <a:prstGeom prst="left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90" name="文字方塊 89">
            <a:extLst>
              <a:ext uri="{FF2B5EF4-FFF2-40B4-BE49-F238E27FC236}">
                <a16:creationId xmlns:a16="http://schemas.microsoft.com/office/drawing/2014/main" id="{1008C988-CB4C-4012-9371-2EE654388D24}"/>
              </a:ext>
            </a:extLst>
          </p:cNvPr>
          <p:cNvSpPr txBox="1"/>
          <p:nvPr/>
        </p:nvSpPr>
        <p:spPr>
          <a:xfrm>
            <a:off x="2599118" y="224852"/>
            <a:ext cx="4013360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TW" sz="1400" b="1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(</a:t>
            </a:r>
            <a:r>
              <a:rPr lang="zh-TW" altLang="en-US" sz="1400" b="1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從公司介紹導向→解決方案導向</a:t>
            </a:r>
            <a:r>
              <a:rPr lang="en-US" altLang="zh-TW" sz="1400" b="1" u="none" strike="noStrike" dirty="0">
                <a:solidFill>
                  <a:schemeClr val="accent1">
                    <a:lumMod val="20000"/>
                    <a:lumOff val="80000"/>
                  </a:schemeClr>
                </a:solidFill>
                <a:effectLst/>
                <a:latin typeface="微軟正黑體" panose="020B0604030504040204" pitchFamily="34" charset="-120"/>
                <a:ea typeface="微軟正黑體" panose="020B0604030504040204" pitchFamily="34" charset="-120"/>
              </a:rPr>
              <a:t>)</a:t>
            </a:r>
            <a:endParaRPr lang="zh-TW" altLang="en-US" sz="1400" dirty="0">
              <a:solidFill>
                <a:schemeClr val="accent1">
                  <a:lumMod val="20000"/>
                  <a:lumOff val="80000"/>
                </a:schemeClr>
              </a:solidFill>
            </a:endParaRPr>
          </a:p>
        </p:txBody>
      </p:sp>
      <p:sp>
        <p:nvSpPr>
          <p:cNvPr id="91" name="Shape 134">
            <a:extLst>
              <a:ext uri="{FF2B5EF4-FFF2-40B4-BE49-F238E27FC236}">
                <a16:creationId xmlns:a16="http://schemas.microsoft.com/office/drawing/2014/main" id="{78DF9C24-E60B-4A6D-BC29-F1C8FBD066AC}"/>
              </a:ext>
            </a:extLst>
          </p:cNvPr>
          <p:cNvSpPr/>
          <p:nvPr/>
        </p:nvSpPr>
        <p:spPr>
          <a:xfrm>
            <a:off x="182880" y="6720840"/>
            <a:ext cx="11795760" cy="0"/>
          </a:xfrm>
          <a:prstGeom prst="line">
            <a:avLst/>
          </a:prstGeom>
          <a:noFill/>
          <a:ln w="6350">
            <a:solidFill>
              <a:srgbClr val="DDDDDD"/>
            </a:solidFill>
            <a:prstDash val="solid"/>
          </a:ln>
        </p:spPr>
      </p:sp>
    </p:spTree>
    <p:extLst>
      <p:ext uri="{BB962C8B-B14F-4D97-AF65-F5344CB8AC3E}">
        <p14:creationId xmlns:p14="http://schemas.microsoft.com/office/powerpoint/2010/main" val="4534785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自訂 25">
      <a:dk1>
        <a:srgbClr val="000000"/>
      </a:dk1>
      <a:lt1>
        <a:srgbClr val="FFFFFF"/>
      </a:lt1>
      <a:dk2>
        <a:srgbClr val="494949"/>
      </a:dk2>
      <a:lt2>
        <a:srgbClr val="3E7EA6"/>
      </a:lt2>
      <a:accent1>
        <a:srgbClr val="6E6E6E"/>
      </a:accent1>
      <a:accent2>
        <a:srgbClr val="FFCC00"/>
      </a:accent2>
      <a:accent3>
        <a:srgbClr val="0066FF"/>
      </a:accent3>
      <a:accent4>
        <a:srgbClr val="660066"/>
      </a:accent4>
      <a:accent5>
        <a:srgbClr val="CC3300"/>
      </a:accent5>
      <a:accent6>
        <a:srgbClr val="006600"/>
      </a:accent6>
      <a:hlink>
        <a:srgbClr val="606060"/>
      </a:hlink>
      <a:folHlink>
        <a:srgbClr val="0070C0"/>
      </a:folHlink>
    </a:clrScheme>
    <a:fontScheme name="基本">
      <a:majorFont>
        <a:latin typeface="Arial Black"/>
        <a:ea typeface=""/>
        <a:cs typeface=""/>
        <a:font script="Jpan" typeface="ＭＳ Ｐゴシック"/>
        <a:font script="Hang" typeface="HY견고딕"/>
        <a:font script="Hans" typeface="微软雅黑"/>
        <a:font script="Hant" typeface="微軟正黑體"/>
        <a:font script="Arab" typeface="Tahoma"/>
        <a:font script="Hebr" typeface="Tahoma"/>
        <a:font script="Thai" typeface="Tahoma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250</TotalTime>
  <Words>325</Words>
  <Application>Microsoft Office PowerPoint</Application>
  <PresentationFormat>寬螢幕</PresentationFormat>
  <Paragraphs>83</Paragraphs>
  <Slides>3</Slides>
  <Notes>2</Notes>
  <HiddenSlides>0</HiddenSlides>
  <MMClips>0</MMClips>
  <ScaleCrop>false</ScaleCrop>
  <HeadingPairs>
    <vt:vector size="6" baseType="variant">
      <vt:variant>
        <vt:lpstr>使用字型</vt:lpstr>
      </vt:variant>
      <vt:variant>
        <vt:i4>4</vt:i4>
      </vt:variant>
      <vt:variant>
        <vt:lpstr>佈景主題</vt:lpstr>
      </vt:variant>
      <vt:variant>
        <vt:i4>2</vt:i4>
      </vt:variant>
      <vt:variant>
        <vt:lpstr>投影片標題</vt:lpstr>
      </vt:variant>
      <vt:variant>
        <vt:i4>3</vt:i4>
      </vt:variant>
    </vt:vector>
  </HeadingPairs>
  <TitlesOfParts>
    <vt:vector size="9" baseType="lpstr">
      <vt:lpstr>微軟正黑體</vt:lpstr>
      <vt:lpstr>Arial</vt:lpstr>
      <vt:lpstr>Arial Black</vt:lpstr>
      <vt:lpstr>Calibri</vt:lpstr>
      <vt:lpstr>Office Theme</vt:lpstr>
      <vt:lpstr>Office 佈景主題</vt:lpstr>
      <vt:lpstr>PowerPoint 簡報</vt:lpstr>
      <vt:lpstr>PowerPoint 簡報</vt:lpstr>
      <vt:lpstr>PowerPoint 簡報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州巧科技 網站架構圖</dc:title>
  <dc:subject>PptxGenJS Presentation</dc:subject>
  <dc:creator>PptxGenJS</dc:creator>
  <cp:lastModifiedBy>HGC楊雅婷-RitaYang</cp:lastModifiedBy>
  <cp:revision>28</cp:revision>
  <cp:lastPrinted>2026-05-20T03:34:23Z</cp:lastPrinted>
  <dcterms:created xsi:type="dcterms:W3CDTF">2026-05-20T03:31:59Z</dcterms:created>
  <dcterms:modified xsi:type="dcterms:W3CDTF">2026-05-21T01:29:19Z</dcterms:modified>
</cp:coreProperties>
</file>